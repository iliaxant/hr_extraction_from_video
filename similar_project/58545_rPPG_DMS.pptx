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65" r:id="rId4"/>
    <p:sldId id="271" r:id="rId5"/>
    <p:sldId id="264" r:id="rId6"/>
    <p:sldId id="280" r:id="rId7"/>
    <p:sldId id="275" r:id="rId8"/>
    <p:sldId id="267" r:id="rId9"/>
    <p:sldId id="274" r:id="rId10"/>
    <p:sldId id="272" r:id="rId11"/>
    <p:sldId id="259" r:id="rId12"/>
    <p:sldId id="268" r:id="rId13"/>
    <p:sldId id="276" r:id="rId14"/>
    <p:sldId id="260" r:id="rId15"/>
    <p:sldId id="277" r:id="rId16"/>
    <p:sldId id="261" r:id="rId17"/>
    <p:sldId id="262" r:id="rId18"/>
    <p:sldId id="279" r:id="rId19"/>
    <p:sldId id="278" r:id="rId20"/>
    <p:sldId id="263" r:id="rId21"/>
    <p:sldId id="273" r:id="rId22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42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92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96" y="1944"/>
      </p:cViewPr>
      <p:guideLst>
        <p:guide pos="3840"/>
        <p:guide orient="horz" pos="420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4AF79-9AA2-4EFF-A458-7F23AC4BB43E}" type="datetimeFigureOut">
              <a:rPr lang="el-GR" smtClean="0"/>
              <a:t>25/2/2026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80C0CD-8DB4-4D39-99EA-34E27A45289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43762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2EBB615-F6FF-696C-661B-2B4A2F1012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17617375-3148-54D2-C81D-1710688D5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2DFB2B7A-3813-7754-B3F4-67F920A52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14445D1-5D6F-188C-79AA-34B9E49F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Βιοϊατρική Τεχνολογία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89E7BBF4-62B1-E454-6606-5F2CB7A6B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71487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D9A45CD-9A91-D791-2293-AABEAD041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4FCEAA66-7168-5B45-DB85-68BC330D4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61C72B43-0ED8-091E-CC92-FA37E1452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E976D20-7152-C41A-91F9-6B5EB44BA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Βιοϊατρική Τεχνολογία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4725B41-720F-7211-1DA8-5E530482B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5370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E42E909-63F4-80C4-46E6-47112BB31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D95D8E8A-E7FE-1CD0-3D59-AD820AE2F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8758FB8D-CF55-3B8D-D466-AB0E51610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44F4E2CA-85E8-34AE-F407-D84DCF3A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Βιοϊατρική Τεχνολογία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9C253CE4-010D-A27E-9813-FB6D740CE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43364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9C7D218-F42D-2A8B-FEB9-5141EB97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46951925-723F-EFF8-11E6-AC69D6BADE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3DA8B1B3-6C30-8435-EEDC-482F85796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2D1702EE-568F-DA8A-C9B9-BA4244241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94CFE75-0F43-BAB7-B0FC-A3E676C5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Βιοϊατρική Τεχνολογία</a:t>
            </a:r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9A8CAB85-F803-C69E-AA05-82BF8DFB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77344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55327E6-F9A2-FF92-711A-C72402A21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FD73264A-8CF2-A7CA-8525-488A267C1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F30DDB3E-5F09-62CC-DE58-A659AB69A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ABC9642A-37A3-DFC3-251E-1B2136947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75D40165-594C-AF58-9EF4-371C7693E5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FC79BEFF-F445-74D3-E065-0EF5931CF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DB977B6F-B7B9-A220-E85A-9149A27E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Βιοϊατρική Τεχνολογία</a:t>
            </a:r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90B21DD8-71C3-C2B9-D04C-A7454F53B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59270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957B595-DAF4-5DBE-A676-4A5C31572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E94BF817-F0B6-6669-2652-BF16D8B0A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F416953D-E414-8A8E-6902-5C35B8EBF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Βιοϊατρική Τεχνολογία</a:t>
            </a:r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47F9DA52-1592-65CF-277B-17C2192F6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10607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F26E6CFC-29C7-0B1C-9290-88D7E03FF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4652A9D7-A276-60B9-9584-E7404B5E4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Βιοϊατρική Τεχνολογία</a:t>
            </a: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D13E0821-BD7F-FE96-CA77-EC3AABFFA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5104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4DF7404-44D8-9997-6888-96A0B1B8F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A32A847-BF02-27D1-7F99-240F31619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21C9CB10-4E96-8D2E-2FA6-6596B495F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C0429542-21AD-BC6C-0CD2-4F23B718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76FF3BD-AC4A-E43F-49BD-2DED9F05F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Βιοϊατρική Τεχνολογία</a:t>
            </a:r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9569211B-6340-3DAE-CC8B-550C54336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86004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2D466B3-3247-4267-DAAC-96EDD143B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0F9559D3-2410-13DB-2A34-1D38C88887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49C0A969-FB2D-A206-65A0-7137F70CC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2145DFA-1EA5-F526-8E1D-723801694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E5531F70-708E-D1F7-5CE4-767A9C03D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Βιοϊατρική Τεχνολογία</a:t>
            </a:r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6FE5159F-485A-E18F-8369-A77AFD9F8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40386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3159C46-EAA4-4E74-F39C-F1FC13475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CE004FBB-0A10-E384-5120-D47DC8ACA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7649E5F4-A779-D276-AE8E-93DE96D6F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219D485-AB12-61FB-6802-9792C69D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Βιοϊατρική Τεχνολογία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2A436583-05FC-058C-A3CE-23664FB44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17030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DC2DFF76-92E5-02C0-39B2-59B509D52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9D466433-33BE-CCB1-8C63-7A6D65A7B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8B77C76-05A1-37BF-5A40-D123B261A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F148177D-7452-2C85-744B-9A5AD6817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Βιοϊατρική Τεχνολογία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DC5A7228-EAA4-FFBE-5203-3803DAF20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12886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2267E2C4-6CE7-76B9-8F47-E13AAE953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8B56D26C-822E-8C9D-65B9-C07C0BFF0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2B6839C7-93A1-DFA1-83C4-224BDC0180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Ηλίας Ξανθόπουλος 58545</a:t>
            </a:r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958E087D-5659-3655-5168-A7AA673C7F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l-GR"/>
              <a:t>Βιοϊατρική Τεχνολογία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97D5C8FA-4F81-ED17-DB31-1F561C37C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578CE3-C8EF-45A7-B343-2DCDAD44ED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69877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D7498B2-8722-7E58-6EB4-C17D54F55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44594"/>
            <a:ext cx="9144000" cy="2743844"/>
          </a:xfrm>
        </p:spPr>
        <p:txBody>
          <a:bodyPr>
            <a:noAutofit/>
          </a:bodyPr>
          <a:lstStyle/>
          <a:p>
            <a:pPr>
              <a:tabLst>
                <a:tab pos="60325" algn="l"/>
              </a:tabLst>
            </a:pPr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Σχεδιασμός Ενσωματωμένου Λογισμικού Απομακρυσμένης </a:t>
            </a:r>
            <a:r>
              <a:rPr lang="el-GR" sz="3600" dirty="0" err="1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Φωτοπληθυσμογραφίας</a:t>
            </a:r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(</a:t>
            </a:r>
            <a:r>
              <a:rPr lang="en-US" sz="3600" dirty="0" err="1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rPPG</a:t>
            </a:r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)</a:t>
            </a:r>
            <a:r>
              <a:rPr lang="en-US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για την Ανέπαφη Παρακολούθηση Ζωτικών Παραμέτρων και Κοπώσεως Οδηγού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5BB1F8D0-9197-8B81-5F9B-8EF282714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811498"/>
            <a:ext cx="9144000" cy="501908"/>
          </a:xfrm>
        </p:spPr>
        <p:txBody>
          <a:bodyPr/>
          <a:lstStyle/>
          <a:p>
            <a:r>
              <a:rPr lang="el-GR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Ηλίας Ξανθόπουλος 58545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2D4F09-2B20-10BE-E765-6BA5A7779B9D}"/>
              </a:ext>
            </a:extLst>
          </p:cNvPr>
          <p:cNvSpPr txBox="1">
            <a:spLocks/>
          </p:cNvSpPr>
          <p:nvPr/>
        </p:nvSpPr>
        <p:spPr>
          <a:xfrm>
            <a:off x="1524000" y="5367113"/>
            <a:ext cx="91516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ΔΠΘ ΗΜΜΥ 9</a:t>
            </a:r>
            <a:r>
              <a:rPr lang="el-GR" baseline="300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ο</a:t>
            </a:r>
            <a:r>
              <a:rPr lang="el-GR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Εξάμηνο 2025-2026</a:t>
            </a:r>
            <a:endParaRPr lang="en-US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ctr"/>
            <a:r>
              <a:rPr lang="el-GR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Βιοϊατρική</a:t>
            </a:r>
            <a:r>
              <a:rPr lang="el-GR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Τεχνολογία</a:t>
            </a:r>
          </a:p>
          <a:p>
            <a:pPr algn="ctr"/>
            <a:r>
              <a:rPr lang="el-GR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Ξάνθη 24/2/2026</a:t>
            </a:r>
          </a:p>
        </p:txBody>
      </p:sp>
      <p:sp>
        <p:nvSpPr>
          <p:cNvPr id="5" name="Τίτλος 1">
            <a:extLst>
              <a:ext uri="{FF2B5EF4-FFF2-40B4-BE49-F238E27FC236}">
                <a16:creationId xmlns:a16="http://schemas.microsoft.com/office/drawing/2014/main" id="{0CC78D11-21EA-01E3-9BA2-7FD8F8E75583}"/>
              </a:ext>
            </a:extLst>
          </p:cNvPr>
          <p:cNvSpPr txBox="1">
            <a:spLocks/>
          </p:cNvSpPr>
          <p:nvPr/>
        </p:nvSpPr>
        <p:spPr>
          <a:xfrm>
            <a:off x="1750849" y="716873"/>
            <a:ext cx="8690301" cy="64633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60325" algn="l"/>
              </a:tabLst>
            </a:pPr>
            <a:endParaRPr lang="el-GR" sz="32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405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41A7112-DF39-CAAA-2789-53355B86B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410" y="60325"/>
            <a:ext cx="10965180" cy="1325563"/>
          </a:xfrm>
        </p:spPr>
        <p:txBody>
          <a:bodyPr>
            <a:normAutofit/>
          </a:bodyPr>
          <a:lstStyle/>
          <a:p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Σκοπός - Κίνητρο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FFDEDE9-B91F-C473-DA7B-072F3079E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1"/>
            <a:ext cx="10515600" cy="1590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sz="24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Έρευνες δείχνουν ότι</a:t>
            </a:r>
            <a:r>
              <a:rPr lang="en-US" sz="24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:</a:t>
            </a:r>
          </a:p>
          <a:p>
            <a:pPr marL="548640" lvl="1" indent="-274320">
              <a:buFont typeface="+mj-lt"/>
              <a:buAutoNum type="romanLcPeriod"/>
            </a:pPr>
            <a:r>
              <a:rPr lang="en-US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l-GR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Κόπωση </a:t>
            </a:r>
            <a:r>
              <a:rPr lang="el-GR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→ 15%-20% των σοβαρών οδικών ατυχημάτων</a:t>
            </a:r>
            <a:r>
              <a:rPr lang="el-GR" baseline="300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[1]</a:t>
            </a:r>
            <a:r>
              <a:rPr lang="el-GR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.</a:t>
            </a:r>
            <a:endParaRPr lang="en-US" b="1" baseline="300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548640" lvl="1" indent="-274320">
              <a:buFont typeface="+mj-lt"/>
              <a:buAutoNum type="romanLcPeriod"/>
            </a:pPr>
            <a:r>
              <a:rPr lang="en-US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l-GR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Φιλανδία: </a:t>
            </a:r>
            <a:r>
              <a:rPr lang="el-GR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Ιατρικό επεισόδιο (κυρίως καρδιακό)</a:t>
            </a:r>
            <a:r>
              <a:rPr lang="el-GR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→ 11% των θανατηφόρων οδικών ατυχημάτων</a:t>
            </a:r>
            <a:r>
              <a:rPr lang="el-GR" baseline="300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[2]</a:t>
            </a:r>
            <a:r>
              <a:rPr lang="en-US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65D5965F-01FA-7561-2D2C-8E93DD752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>
                <a:latin typeface="Arial" panose="020B0604020202020204" pitchFamily="34" charset="0"/>
                <a:cs typeface="Arial" panose="020B0604020202020204" pitchFamily="34" charset="0"/>
              </a:rPr>
              <a:t>Βιοϊατρική Τεχνολογία</a:t>
            </a:r>
            <a:endParaRPr lang="el-G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735CF11-32C4-289C-9C4E-CCC5BFFDE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l-G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1F640DCA-506E-2CCF-AF0F-9F3F1A179F84}"/>
              </a:ext>
            </a:extLst>
          </p:cNvPr>
          <p:cNvCxnSpPr/>
          <p:nvPr/>
        </p:nvCxnSpPr>
        <p:spPr>
          <a:xfrm>
            <a:off x="586740" y="1082040"/>
            <a:ext cx="1101852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Θέση ημερομηνίας 7">
            <a:extLst>
              <a:ext uri="{FF2B5EF4-FFF2-40B4-BE49-F238E27FC236}">
                <a16:creationId xmlns:a16="http://schemas.microsoft.com/office/drawing/2014/main" id="{7CB07E2E-A83E-5007-20F2-36F7DAB0D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D51F471-9F3B-91CC-30F4-AF32DDD93F49}"/>
              </a:ext>
            </a:extLst>
          </p:cNvPr>
          <p:cNvCxnSpPr>
            <a:cxnSpLocks/>
          </p:cNvCxnSpPr>
          <p:nvPr/>
        </p:nvCxnSpPr>
        <p:spPr>
          <a:xfrm>
            <a:off x="6096000" y="2717100"/>
            <a:ext cx="0" cy="431831"/>
          </a:xfrm>
          <a:prstGeom prst="straightConnector1">
            <a:avLst/>
          </a:prstGeom>
          <a:ln w="762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47A1AC1-E224-E696-AA47-A699A951E884}"/>
              </a:ext>
            </a:extLst>
          </p:cNvPr>
          <p:cNvCxnSpPr>
            <a:cxnSpLocks/>
          </p:cNvCxnSpPr>
          <p:nvPr/>
        </p:nvCxnSpPr>
        <p:spPr>
          <a:xfrm>
            <a:off x="6096000" y="3819279"/>
            <a:ext cx="0" cy="431831"/>
          </a:xfrm>
          <a:prstGeom prst="straightConnector1">
            <a:avLst/>
          </a:prstGeom>
          <a:ln w="762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7E3C1D2-DABD-5EAA-1C2A-EE26A93CCFDC}"/>
              </a:ext>
            </a:extLst>
          </p:cNvPr>
          <p:cNvGrpSpPr/>
          <p:nvPr/>
        </p:nvGrpSpPr>
        <p:grpSpPr>
          <a:xfrm>
            <a:off x="2209799" y="3202404"/>
            <a:ext cx="7728679" cy="533861"/>
            <a:chOff x="2209799" y="3131480"/>
            <a:chExt cx="7728679" cy="533861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E67B573-1D1E-9E14-83D1-913B265418FC}"/>
                </a:ext>
              </a:extLst>
            </p:cNvPr>
            <p:cNvSpPr/>
            <p:nvPr/>
          </p:nvSpPr>
          <p:spPr>
            <a:xfrm>
              <a:off x="2209800" y="3131480"/>
              <a:ext cx="7728678" cy="533861"/>
            </a:xfrm>
            <a:prstGeom prst="roundRect">
              <a:avLst/>
            </a:prstGeom>
            <a:solidFill>
              <a:srgbClr val="E0E0E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818447-4D1D-0DD7-EC84-25D17C9692E5}"/>
                </a:ext>
              </a:extLst>
            </p:cNvPr>
            <p:cNvSpPr txBox="1"/>
            <p:nvPr/>
          </p:nvSpPr>
          <p:spPr>
            <a:xfrm>
              <a:off x="2209799" y="3131480"/>
              <a:ext cx="772867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l-GR" sz="24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Έγκαιρη προειδοποίηση → Αποφυγή Ατυχημάτων</a:t>
              </a:r>
              <a:endParaRPr lang="en-US" sz="24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0AD3937-8B95-D61C-BA68-6214A4EE36F1}"/>
              </a:ext>
            </a:extLst>
          </p:cNvPr>
          <p:cNvGrpSpPr/>
          <p:nvPr/>
        </p:nvGrpSpPr>
        <p:grpSpPr>
          <a:xfrm>
            <a:off x="3022599" y="4332046"/>
            <a:ext cx="6000920" cy="852667"/>
            <a:chOff x="3022599" y="4261122"/>
            <a:chExt cx="6000920" cy="852667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0A7DF862-1227-C514-364C-A00C1EF85B47}"/>
                </a:ext>
              </a:extLst>
            </p:cNvPr>
            <p:cNvSpPr/>
            <p:nvPr/>
          </p:nvSpPr>
          <p:spPr>
            <a:xfrm>
              <a:off x="3022600" y="4262220"/>
              <a:ext cx="6000919" cy="851569"/>
            </a:xfrm>
            <a:prstGeom prst="roundRect">
              <a:avLst/>
            </a:prstGeom>
            <a:solidFill>
              <a:srgbClr val="E0E0E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B879142-0649-7CF7-C981-B39D72C450C9}"/>
                </a:ext>
              </a:extLst>
            </p:cNvPr>
            <p:cNvSpPr txBox="1"/>
            <p:nvPr/>
          </p:nvSpPr>
          <p:spPr>
            <a:xfrm>
              <a:off x="3022599" y="4261122"/>
              <a:ext cx="600091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24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Driver Monitoring System</a:t>
              </a:r>
              <a:r>
                <a:rPr lang="el-GR" sz="24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 για εκτίμηση ζωτικών παραμέτρων και κατάστασης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5B8DEA6-C276-D9C2-50E5-121AF9120D59}"/>
              </a:ext>
            </a:extLst>
          </p:cNvPr>
          <p:cNvSpPr txBox="1"/>
          <p:nvPr/>
        </p:nvSpPr>
        <p:spPr>
          <a:xfrm>
            <a:off x="405714" y="5223300"/>
            <a:ext cx="60980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l-GR" sz="2400" b="1" dirty="0">
                <a:solidFill>
                  <a:srgbClr val="FF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Αδιάλειπτη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non-invasive </a:t>
            </a:r>
            <a:r>
              <a:rPr lang="el-GR" sz="2400" b="1" dirty="0">
                <a:solidFill>
                  <a:srgbClr val="FF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παρακολούθηση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HR</a:t>
            </a:r>
            <a:r>
              <a:rPr lang="el-GR" sz="2400" b="1" dirty="0">
                <a:solidFill>
                  <a:srgbClr val="FF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HRV</a:t>
            </a:r>
            <a:r>
              <a:rPr lang="el-GR" sz="2400" b="1" dirty="0">
                <a:solidFill>
                  <a:srgbClr val="FF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και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SpO2;</a:t>
            </a:r>
            <a:endParaRPr lang="el-GR" sz="2400" b="1" dirty="0">
              <a:solidFill>
                <a:srgbClr val="FF000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BF7DB3-9758-3D30-BA19-1454BB4804B4}"/>
              </a:ext>
            </a:extLst>
          </p:cNvPr>
          <p:cNvSpPr txBox="1"/>
          <p:nvPr/>
        </p:nvSpPr>
        <p:spPr>
          <a:xfrm>
            <a:off x="7641624" y="5407965"/>
            <a:ext cx="31344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dirty="0" err="1">
                <a:solidFill>
                  <a:srgbClr val="00B05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rPPG</a:t>
            </a:r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to the rescue!</a:t>
            </a:r>
            <a:endParaRPr lang="el-GR" sz="2400" b="1" dirty="0">
              <a:solidFill>
                <a:srgbClr val="00B05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61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507C4-9494-1925-AAF7-BF80D8658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01793A91-F7A7-8C9D-39E7-881D39FB5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 dirty="0" err="1">
                <a:latin typeface="Arial" panose="020B0604020202020204" pitchFamily="34" charset="0"/>
                <a:cs typeface="Arial" panose="020B0604020202020204" pitchFamily="34" charset="0"/>
              </a:rPr>
              <a:t>Βιοϊατρική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 Τεχνολογία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98015D1D-C735-5FD6-1CA1-F098E6B6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l-G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Ευθεία γραμμή σύνδεσης 10">
            <a:extLst>
              <a:ext uri="{FF2B5EF4-FFF2-40B4-BE49-F238E27FC236}">
                <a16:creationId xmlns:a16="http://schemas.microsoft.com/office/drawing/2014/main" id="{23C2C911-217A-414B-5DFA-A00CD7B98332}"/>
              </a:ext>
            </a:extLst>
          </p:cNvPr>
          <p:cNvCxnSpPr/>
          <p:nvPr/>
        </p:nvCxnSpPr>
        <p:spPr>
          <a:xfrm>
            <a:off x="586740" y="1082040"/>
            <a:ext cx="1101852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Τίτλος 1">
            <a:extLst>
              <a:ext uri="{FF2B5EF4-FFF2-40B4-BE49-F238E27FC236}">
                <a16:creationId xmlns:a16="http://schemas.microsoft.com/office/drawing/2014/main" id="{AA96A719-6DDC-F1DF-98FC-9766DB504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410" y="60325"/>
            <a:ext cx="10965180" cy="1325563"/>
          </a:xfrm>
        </p:spPr>
        <p:txBody>
          <a:bodyPr>
            <a:normAutofit/>
          </a:bodyPr>
          <a:lstStyle/>
          <a:p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Αξιολόγηση Τεχνολογίας: </a:t>
            </a:r>
            <a:r>
              <a:rPr lang="en-US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PPG &amp; </a:t>
            </a:r>
            <a:r>
              <a:rPr lang="en-US" sz="3600" dirty="0" err="1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rPPG</a:t>
            </a:r>
            <a:endParaRPr lang="el-GR" sz="36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5" name="Θέση περιεχομένου 2">
            <a:extLst>
              <a:ext uri="{FF2B5EF4-FFF2-40B4-BE49-F238E27FC236}">
                <a16:creationId xmlns:a16="http://schemas.microsoft.com/office/drawing/2014/main" id="{43CDC3C9-6CCB-1AB6-859D-A7BFB40A3D2E}"/>
              </a:ext>
            </a:extLst>
          </p:cNvPr>
          <p:cNvSpPr txBox="1">
            <a:spLocks/>
          </p:cNvSpPr>
          <p:nvPr/>
        </p:nvSpPr>
        <p:spPr>
          <a:xfrm>
            <a:off x="838200" y="1219200"/>
            <a:ext cx="10515600" cy="5074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8" name="Θέση ημερομηνίας 17">
            <a:extLst>
              <a:ext uri="{FF2B5EF4-FFF2-40B4-BE49-F238E27FC236}">
                <a16:creationId xmlns:a16="http://schemas.microsoft.com/office/drawing/2014/main" id="{F8AE53E9-A21C-87C8-B98B-8AFACBF22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7FCECB1-489A-6C6F-5234-8CCB8A44F729}"/>
              </a:ext>
            </a:extLst>
          </p:cNvPr>
          <p:cNvGrpSpPr/>
          <p:nvPr/>
        </p:nvGrpSpPr>
        <p:grpSpPr>
          <a:xfrm>
            <a:off x="584618" y="2100396"/>
            <a:ext cx="5367729" cy="4193723"/>
            <a:chOff x="584618" y="2100396"/>
            <a:chExt cx="5367729" cy="4066647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7552EFF1-9643-36B8-527C-32DED386A8B6}"/>
                </a:ext>
              </a:extLst>
            </p:cNvPr>
            <p:cNvSpPr/>
            <p:nvPr/>
          </p:nvSpPr>
          <p:spPr>
            <a:xfrm>
              <a:off x="584618" y="2100396"/>
              <a:ext cx="5149375" cy="4066646"/>
            </a:xfrm>
            <a:prstGeom prst="roundRect">
              <a:avLst/>
            </a:prstGeom>
            <a:solidFill>
              <a:srgbClr val="E0E0E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Θέση περιεχομένου 16">
              <a:extLst>
                <a:ext uri="{FF2B5EF4-FFF2-40B4-BE49-F238E27FC236}">
                  <a16:creationId xmlns:a16="http://schemas.microsoft.com/office/drawing/2014/main" id="{F9D474E5-8F0F-164C-12DD-8CF09DA62CEF}"/>
                </a:ext>
              </a:extLst>
            </p:cNvPr>
            <p:cNvSpPr txBox="1">
              <a:spLocks/>
            </p:cNvSpPr>
            <p:nvPr/>
          </p:nvSpPr>
          <p:spPr>
            <a:xfrm>
              <a:off x="611288" y="2578572"/>
              <a:ext cx="5341059" cy="358847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Αιμοσφαιρίνη-</a:t>
              </a:r>
              <a:r>
                <a:rPr lang="el-GR" sz="2200" dirty="0" err="1">
                  <a:latin typeface="Arial" panose="020B0604020202020204" pitchFamily="34" charset="0"/>
                  <a:cs typeface="Arial" panose="020B0604020202020204" pitchFamily="34" charset="0"/>
                </a:rPr>
                <a:t>Οξυαιμοσφαιρίνη</a:t>
              </a:r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: μεγαλύτερη απορρόφηση φωτός από τους γειτονικούς ιστούς,</a:t>
              </a:r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διαφορετική μεταξύ τους.</a:t>
              </a:r>
            </a:p>
            <a:p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Μέτρηση εξασθένησης φωτός </a:t>
              </a:r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LED </a:t>
              </a:r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κατά την διέλευση από το σώμα.</a:t>
              </a:r>
            </a:p>
            <a:p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Μέτρηση έντασης, είτε ανακλώμενου, είτε διαδιδόμενου, φωτός μέσω </a:t>
              </a:r>
              <a:r>
                <a:rPr lang="el-GR" sz="2200" dirty="0" err="1">
                  <a:latin typeface="Arial" panose="020B0604020202020204" pitchFamily="34" charset="0"/>
                  <a:cs typeface="Arial" panose="020B0604020202020204" pitchFamily="34" charset="0"/>
                </a:rPr>
                <a:t>φωτοαισθητήρα</a:t>
              </a:r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r>
                <a:rPr lang="el-GR" sz="22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Σε επαφή με το σώμα.</a:t>
              </a:r>
            </a:p>
          </p:txBody>
        </p:sp>
      </p:grpSp>
      <p:sp>
        <p:nvSpPr>
          <p:cNvPr id="7" name="Θέση περιεχομένου 16">
            <a:extLst>
              <a:ext uri="{FF2B5EF4-FFF2-40B4-BE49-F238E27FC236}">
                <a16:creationId xmlns:a16="http://schemas.microsoft.com/office/drawing/2014/main" id="{2D8767FB-7977-A386-D369-354E82228DE9}"/>
              </a:ext>
            </a:extLst>
          </p:cNvPr>
          <p:cNvSpPr txBox="1">
            <a:spLocks/>
          </p:cNvSpPr>
          <p:nvPr/>
        </p:nvSpPr>
        <p:spPr>
          <a:xfrm>
            <a:off x="838200" y="1234441"/>
            <a:ext cx="10515600" cy="644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PPG &amp;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rPPG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Εκτίμηση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HR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από μέτρηση των μεταβολών όγκου αίματος. Εκτίμηση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SpO2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από υπολογισμό συγκέντρωσης </a:t>
            </a:r>
            <a:r>
              <a:rPr lang="el-GR" sz="2000" dirty="0" err="1">
                <a:latin typeface="Arial" panose="020B0604020202020204" pitchFamily="34" charset="0"/>
                <a:cs typeface="Arial" panose="020B0604020202020204" pitchFamily="34" charset="0"/>
              </a:rPr>
              <a:t>οξυαιμοσφαιρίνης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HbO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στο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αίμα.</a:t>
            </a:r>
            <a:endParaRPr lang="el-GR" sz="2000" dirty="0"/>
          </a:p>
        </p:txBody>
      </p:sp>
      <p:sp>
        <p:nvSpPr>
          <p:cNvPr id="8" name="Θέση περιεχομένου 16">
            <a:extLst>
              <a:ext uri="{FF2B5EF4-FFF2-40B4-BE49-F238E27FC236}">
                <a16:creationId xmlns:a16="http://schemas.microsoft.com/office/drawing/2014/main" id="{5EF0C1A6-6D25-C0E6-EC18-744DC7146C4C}"/>
              </a:ext>
            </a:extLst>
          </p:cNvPr>
          <p:cNvSpPr txBox="1">
            <a:spLocks/>
          </p:cNvSpPr>
          <p:nvPr/>
        </p:nvSpPr>
        <p:spPr>
          <a:xfrm>
            <a:off x="5083776" y="1948925"/>
            <a:ext cx="2100649" cy="49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Αλλά…</a:t>
            </a:r>
            <a:endParaRPr lang="el-GR" sz="2400" dirty="0"/>
          </a:p>
        </p:txBody>
      </p:sp>
      <p:pic>
        <p:nvPicPr>
          <p:cNvPr id="25" name="Content Placeholder 10">
            <a:extLst>
              <a:ext uri="{FF2B5EF4-FFF2-40B4-BE49-F238E27FC236}">
                <a16:creationId xmlns:a16="http://schemas.microsoft.com/office/drawing/2014/main" id="{1F134452-C65D-2A39-30DB-8C928122B9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009" y="2310214"/>
            <a:ext cx="2463887" cy="1642591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6F4AFBAB-62DF-3902-9B46-F43A9AB80124}"/>
              </a:ext>
            </a:extLst>
          </p:cNvPr>
          <p:cNvGrpSpPr/>
          <p:nvPr/>
        </p:nvGrpSpPr>
        <p:grpSpPr>
          <a:xfrm>
            <a:off x="6581145" y="4497404"/>
            <a:ext cx="4681502" cy="1933874"/>
            <a:chOff x="6591002" y="4003882"/>
            <a:chExt cx="4681502" cy="1933874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D006AC3-6D53-F6CF-D9A7-6BF59011EEB8}"/>
                </a:ext>
              </a:extLst>
            </p:cNvPr>
            <p:cNvSpPr txBox="1"/>
            <p:nvPr/>
          </p:nvSpPr>
          <p:spPr>
            <a:xfrm>
              <a:off x="7275948" y="5014426"/>
              <a:ext cx="331161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Fig 2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: Transmission and reflection mode of a PPG measurement of a finger</a:t>
              </a:r>
              <a:r>
                <a:rPr lang="en-US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[</a:t>
              </a:r>
              <a:r>
                <a:rPr lang="el-GR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en-US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]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C736CBE-6F2F-D56C-B220-C4E143D059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91002" y="4003882"/>
              <a:ext cx="4681502" cy="1010544"/>
            </a:xfrm>
            <a:prstGeom prst="rect">
              <a:avLst/>
            </a:prstGeom>
          </p:spPr>
        </p:pic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2A091EA9-5E8C-6340-1C2E-1844141A27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1980" y="2310214"/>
            <a:ext cx="2461963" cy="164259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744F0AE-8183-2B8E-CD64-C3BECCF5DC34}"/>
              </a:ext>
            </a:extLst>
          </p:cNvPr>
          <p:cNvSpPr txBox="1"/>
          <p:nvPr/>
        </p:nvSpPr>
        <p:spPr>
          <a:xfrm>
            <a:off x="7226174" y="3952805"/>
            <a:ext cx="3311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 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Devices that use PPG.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90D379-A803-BA5C-EDA5-15E5FF0F81EF}"/>
              </a:ext>
            </a:extLst>
          </p:cNvPr>
          <p:cNvSpPr txBox="1"/>
          <p:nvPr/>
        </p:nvSpPr>
        <p:spPr>
          <a:xfrm>
            <a:off x="2349607" y="2188799"/>
            <a:ext cx="18644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PPG</a:t>
            </a:r>
          </a:p>
        </p:txBody>
      </p:sp>
    </p:spTree>
    <p:extLst>
      <p:ext uri="{BB962C8B-B14F-4D97-AF65-F5344CB8AC3E}">
        <p14:creationId xmlns:p14="http://schemas.microsoft.com/office/powerpoint/2010/main" val="303953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31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18178-A0D6-DEF3-A1EC-68F96F750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D800C55-1923-D1A6-4498-ACF9B2DC5FD2}"/>
              </a:ext>
            </a:extLst>
          </p:cNvPr>
          <p:cNvSpPr/>
          <p:nvPr/>
        </p:nvSpPr>
        <p:spPr>
          <a:xfrm>
            <a:off x="6458008" y="2100396"/>
            <a:ext cx="5147252" cy="4193722"/>
          </a:xfrm>
          <a:prstGeom prst="roundRect">
            <a:avLst/>
          </a:prstGeom>
          <a:solidFill>
            <a:srgbClr val="E0E0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88FF7BFA-127A-F58D-AE6A-90860EF60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 dirty="0" err="1">
                <a:latin typeface="Arial" panose="020B0604020202020204" pitchFamily="34" charset="0"/>
                <a:cs typeface="Arial" panose="020B0604020202020204" pitchFamily="34" charset="0"/>
              </a:rPr>
              <a:t>Βιοϊατρική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 Τεχνολογία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9F9ADAD3-2BF5-9334-E555-B478A8771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l-G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Ευθεία γραμμή σύνδεσης 10">
            <a:extLst>
              <a:ext uri="{FF2B5EF4-FFF2-40B4-BE49-F238E27FC236}">
                <a16:creationId xmlns:a16="http://schemas.microsoft.com/office/drawing/2014/main" id="{8CCDFA1D-8EF6-5875-2361-71686E37A269}"/>
              </a:ext>
            </a:extLst>
          </p:cNvPr>
          <p:cNvCxnSpPr/>
          <p:nvPr/>
        </p:nvCxnSpPr>
        <p:spPr>
          <a:xfrm>
            <a:off x="586740" y="1082040"/>
            <a:ext cx="1101852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Τίτλος 1">
            <a:extLst>
              <a:ext uri="{FF2B5EF4-FFF2-40B4-BE49-F238E27FC236}">
                <a16:creationId xmlns:a16="http://schemas.microsoft.com/office/drawing/2014/main" id="{E9949EC2-E171-1603-C993-AF117DFD6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410" y="60325"/>
            <a:ext cx="10965180" cy="1325563"/>
          </a:xfrm>
        </p:spPr>
        <p:txBody>
          <a:bodyPr>
            <a:normAutofit/>
          </a:bodyPr>
          <a:lstStyle/>
          <a:p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Αξιολόγηση Τεχνολογίας: </a:t>
            </a:r>
            <a:r>
              <a:rPr lang="en-US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PPG &amp; </a:t>
            </a:r>
            <a:r>
              <a:rPr lang="en-US" sz="3600" dirty="0" err="1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rPPG</a:t>
            </a:r>
            <a:endParaRPr lang="el-GR" sz="36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5" name="Θέση περιεχομένου 2">
            <a:extLst>
              <a:ext uri="{FF2B5EF4-FFF2-40B4-BE49-F238E27FC236}">
                <a16:creationId xmlns:a16="http://schemas.microsoft.com/office/drawing/2014/main" id="{B7FE70DF-4614-6389-2EBE-0000848CDB44}"/>
              </a:ext>
            </a:extLst>
          </p:cNvPr>
          <p:cNvSpPr txBox="1">
            <a:spLocks/>
          </p:cNvSpPr>
          <p:nvPr/>
        </p:nvSpPr>
        <p:spPr>
          <a:xfrm>
            <a:off x="838200" y="1219200"/>
            <a:ext cx="10515600" cy="5074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7" name="Θέση περιεχομένου 16">
            <a:extLst>
              <a:ext uri="{FF2B5EF4-FFF2-40B4-BE49-F238E27FC236}">
                <a16:creationId xmlns:a16="http://schemas.microsoft.com/office/drawing/2014/main" id="{9CC1A3D5-067C-39C4-A0BE-4309E40B8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0646" y="2619686"/>
            <a:ext cx="5037944" cy="3218889"/>
          </a:xfrm>
        </p:spPr>
        <p:txBody>
          <a:bodyPr>
            <a:normAutofit/>
          </a:bodyPr>
          <a:lstStyle/>
          <a:p>
            <a:r>
              <a:rPr lang="el-GR" sz="2200" dirty="0">
                <a:latin typeface="Arial" panose="020B0604020202020204" pitchFamily="34" charset="0"/>
                <a:cs typeface="Arial" panose="020B0604020202020204" pitchFamily="34" charset="0"/>
              </a:rPr>
              <a:t>Μικροσκοπικές αλλαγές χρώματος δέρματος λόγω μεταβολής όγκου αίματος.</a:t>
            </a:r>
          </a:p>
          <a:p>
            <a:r>
              <a:rPr lang="el-GR" sz="2200" dirty="0">
                <a:latin typeface="Arial" panose="020B0604020202020204" pitchFamily="34" charset="0"/>
                <a:cs typeface="Arial" panose="020B0604020202020204" pitchFamily="34" charset="0"/>
              </a:rPr>
              <a:t>Καταγραφή χρωματικών αλλαγών μέσω κοινής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RGB </a:t>
            </a:r>
            <a:r>
              <a:rPr lang="el-GR" sz="2200" dirty="0">
                <a:latin typeface="Arial" panose="020B0604020202020204" pitchFamily="34" charset="0"/>
                <a:cs typeface="Arial" panose="020B0604020202020204" pitchFamily="34" charset="0"/>
              </a:rPr>
              <a:t>κάμερας.</a:t>
            </a:r>
          </a:p>
          <a:p>
            <a:r>
              <a:rPr lang="el-GR" sz="2200" dirty="0">
                <a:latin typeface="Arial" panose="020B0604020202020204" pitchFamily="34" charset="0"/>
                <a:cs typeface="Arial" panose="020B0604020202020204" pitchFamily="34" charset="0"/>
              </a:rPr>
              <a:t>Μέτρηση έντασης καναλιών.</a:t>
            </a:r>
          </a:p>
          <a:p>
            <a:r>
              <a:rPr lang="el-GR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Ανέπαφο.</a:t>
            </a:r>
            <a:endParaRPr lang="el-GR" sz="2200" dirty="0">
              <a:solidFill>
                <a:srgbClr val="00B050"/>
              </a:solidFill>
            </a:endParaRPr>
          </a:p>
        </p:txBody>
      </p:sp>
      <p:sp>
        <p:nvSpPr>
          <p:cNvPr id="18" name="Θέση ημερομηνίας 17">
            <a:extLst>
              <a:ext uri="{FF2B5EF4-FFF2-40B4-BE49-F238E27FC236}">
                <a16:creationId xmlns:a16="http://schemas.microsoft.com/office/drawing/2014/main" id="{B40EA6B3-36D4-7693-CABE-076C8F085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 dirty="0"/>
          </a:p>
        </p:txBody>
      </p:sp>
      <p:sp>
        <p:nvSpPr>
          <p:cNvPr id="8" name="Θέση περιεχομένου 16">
            <a:extLst>
              <a:ext uri="{FF2B5EF4-FFF2-40B4-BE49-F238E27FC236}">
                <a16:creationId xmlns:a16="http://schemas.microsoft.com/office/drawing/2014/main" id="{3563630A-0D8A-7B2A-7DB0-43483A7EBF60}"/>
              </a:ext>
            </a:extLst>
          </p:cNvPr>
          <p:cNvSpPr txBox="1">
            <a:spLocks/>
          </p:cNvSpPr>
          <p:nvPr/>
        </p:nvSpPr>
        <p:spPr>
          <a:xfrm>
            <a:off x="5083776" y="1948925"/>
            <a:ext cx="2100649" cy="49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Αλλά…</a:t>
            </a:r>
            <a:endParaRPr lang="el-GR" sz="2400" dirty="0"/>
          </a:p>
        </p:txBody>
      </p:sp>
      <p:sp>
        <p:nvSpPr>
          <p:cNvPr id="3" name="Θέση περιεχομένου 16">
            <a:extLst>
              <a:ext uri="{FF2B5EF4-FFF2-40B4-BE49-F238E27FC236}">
                <a16:creationId xmlns:a16="http://schemas.microsoft.com/office/drawing/2014/main" id="{F31C1031-1978-336B-CCD5-BDE54428390F}"/>
              </a:ext>
            </a:extLst>
          </p:cNvPr>
          <p:cNvSpPr txBox="1">
            <a:spLocks/>
          </p:cNvSpPr>
          <p:nvPr/>
        </p:nvSpPr>
        <p:spPr>
          <a:xfrm>
            <a:off x="838200" y="1234441"/>
            <a:ext cx="10515600" cy="644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PPG &amp;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rPPG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Εκτίμηση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HR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από μέτρηση των μεταβολών όγκου αίματος. Εκτίμηση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SpO2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από υπολογισμό συγκέντρωσης </a:t>
            </a:r>
            <a:r>
              <a:rPr lang="el-GR" sz="2000" dirty="0" err="1">
                <a:latin typeface="Arial" panose="020B0604020202020204" pitchFamily="34" charset="0"/>
                <a:cs typeface="Arial" panose="020B0604020202020204" pitchFamily="34" charset="0"/>
              </a:rPr>
              <a:t>οξυαιμοσφαιρίνης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HbO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στο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αίμα.</a:t>
            </a:r>
            <a:endParaRPr lang="el-GR" sz="20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A70E68E-CD35-A1F5-B14B-3EC307071841}"/>
              </a:ext>
            </a:extLst>
          </p:cNvPr>
          <p:cNvGrpSpPr/>
          <p:nvPr/>
        </p:nvGrpSpPr>
        <p:grpSpPr>
          <a:xfrm>
            <a:off x="584618" y="2100396"/>
            <a:ext cx="5367729" cy="4193723"/>
            <a:chOff x="584618" y="2100396"/>
            <a:chExt cx="5367729" cy="4066647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AE2F78B-6C49-6D96-1653-A9259BAC0285}"/>
                </a:ext>
              </a:extLst>
            </p:cNvPr>
            <p:cNvSpPr/>
            <p:nvPr/>
          </p:nvSpPr>
          <p:spPr>
            <a:xfrm>
              <a:off x="584618" y="2100396"/>
              <a:ext cx="5149375" cy="4066646"/>
            </a:xfrm>
            <a:prstGeom prst="roundRect">
              <a:avLst/>
            </a:prstGeom>
            <a:solidFill>
              <a:srgbClr val="E0E0E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Θέση περιεχομένου 16">
              <a:extLst>
                <a:ext uri="{FF2B5EF4-FFF2-40B4-BE49-F238E27FC236}">
                  <a16:creationId xmlns:a16="http://schemas.microsoft.com/office/drawing/2014/main" id="{3D2DF957-821C-91F4-461E-0310C391A7B0}"/>
                </a:ext>
              </a:extLst>
            </p:cNvPr>
            <p:cNvSpPr txBox="1">
              <a:spLocks/>
            </p:cNvSpPr>
            <p:nvPr/>
          </p:nvSpPr>
          <p:spPr>
            <a:xfrm>
              <a:off x="611288" y="2578572"/>
              <a:ext cx="5341059" cy="358847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Αιμοσφαιρίνη-</a:t>
              </a:r>
              <a:r>
                <a:rPr lang="el-GR" sz="2200" dirty="0" err="1">
                  <a:latin typeface="Arial" panose="020B0604020202020204" pitchFamily="34" charset="0"/>
                  <a:cs typeface="Arial" panose="020B0604020202020204" pitchFamily="34" charset="0"/>
                </a:rPr>
                <a:t>Οξυαιμοσφαιρίνη</a:t>
              </a:r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: μεγαλύτερη απορρόφηση φωτός από τους γειτονικούς ιστούς,</a:t>
              </a:r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διαφορετική μεταξύ τους.</a:t>
              </a:r>
            </a:p>
            <a:p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Μέτρηση εξασθένησης φωτός </a:t>
              </a:r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LED </a:t>
              </a:r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κατά την διέλευση από το σώμα.</a:t>
              </a:r>
            </a:p>
            <a:p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Μέτρηση έντασης, είτε ανακλώμενου, είτε διαδιδόμενου, φωτός μέσω </a:t>
              </a:r>
              <a:r>
                <a:rPr lang="el-GR" sz="2200" dirty="0" err="1">
                  <a:latin typeface="Arial" panose="020B0604020202020204" pitchFamily="34" charset="0"/>
                  <a:cs typeface="Arial" panose="020B0604020202020204" pitchFamily="34" charset="0"/>
                </a:rPr>
                <a:t>φωτοαισθητήρα</a:t>
              </a:r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r>
                <a:rPr lang="el-GR" sz="22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Σε επαφή με το σώμα.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7B95FB4-87D2-AF0F-E10D-B6984B1DFB17}"/>
              </a:ext>
            </a:extLst>
          </p:cNvPr>
          <p:cNvSpPr txBox="1"/>
          <p:nvPr/>
        </p:nvSpPr>
        <p:spPr>
          <a:xfrm>
            <a:off x="2349607" y="2188799"/>
            <a:ext cx="18644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PPG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885578-8764-6F85-A58F-26150B12C465}"/>
              </a:ext>
            </a:extLst>
          </p:cNvPr>
          <p:cNvSpPr txBox="1"/>
          <p:nvPr/>
        </p:nvSpPr>
        <p:spPr>
          <a:xfrm>
            <a:off x="7886892" y="2228345"/>
            <a:ext cx="228948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Remote PPG</a:t>
            </a:r>
          </a:p>
        </p:txBody>
      </p:sp>
    </p:spTree>
    <p:extLst>
      <p:ext uri="{BB962C8B-B14F-4D97-AF65-F5344CB8AC3E}">
        <p14:creationId xmlns:p14="http://schemas.microsoft.com/office/powerpoint/2010/main" val="723569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D053F-3105-B742-F650-FBE35F871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EBF812E8-7CDA-FD7D-ECB5-F044F4DE8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 dirty="0" err="1">
                <a:latin typeface="Arial" panose="020B0604020202020204" pitchFamily="34" charset="0"/>
                <a:cs typeface="Arial" panose="020B0604020202020204" pitchFamily="34" charset="0"/>
              </a:rPr>
              <a:t>Βιοϊατρική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 Τεχνολογία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F28C5E4F-7C3D-2ACD-0226-296DD936E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l-G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Ευθεία γραμμή σύνδεσης 10">
            <a:extLst>
              <a:ext uri="{FF2B5EF4-FFF2-40B4-BE49-F238E27FC236}">
                <a16:creationId xmlns:a16="http://schemas.microsoft.com/office/drawing/2014/main" id="{8DDB7410-6DD3-1663-25FE-E9E8523B1726}"/>
              </a:ext>
            </a:extLst>
          </p:cNvPr>
          <p:cNvCxnSpPr/>
          <p:nvPr/>
        </p:nvCxnSpPr>
        <p:spPr>
          <a:xfrm>
            <a:off x="586740" y="1082040"/>
            <a:ext cx="1101852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Τίτλος 1">
            <a:extLst>
              <a:ext uri="{FF2B5EF4-FFF2-40B4-BE49-F238E27FC236}">
                <a16:creationId xmlns:a16="http://schemas.microsoft.com/office/drawing/2014/main" id="{A26842C5-A874-8582-2B11-65FD2DE32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410" y="60325"/>
            <a:ext cx="10965180" cy="1325563"/>
          </a:xfrm>
        </p:spPr>
        <p:txBody>
          <a:bodyPr>
            <a:normAutofit/>
          </a:bodyPr>
          <a:lstStyle/>
          <a:p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Αξιολόγηση Τεχνολογίας: </a:t>
            </a:r>
            <a:r>
              <a:rPr lang="en-US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PPG &amp; </a:t>
            </a:r>
            <a:r>
              <a:rPr lang="en-US" sz="3600" dirty="0" err="1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rPPG</a:t>
            </a:r>
            <a:endParaRPr lang="el-GR" sz="36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5" name="Θέση περιεχομένου 2">
            <a:extLst>
              <a:ext uri="{FF2B5EF4-FFF2-40B4-BE49-F238E27FC236}">
                <a16:creationId xmlns:a16="http://schemas.microsoft.com/office/drawing/2014/main" id="{D037EE6F-E502-F298-B30A-AD5AEDD3244D}"/>
              </a:ext>
            </a:extLst>
          </p:cNvPr>
          <p:cNvSpPr txBox="1">
            <a:spLocks/>
          </p:cNvSpPr>
          <p:nvPr/>
        </p:nvSpPr>
        <p:spPr>
          <a:xfrm>
            <a:off x="838200" y="1219201"/>
            <a:ext cx="10515600" cy="781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7" name="Θέση περιεχομένου 16">
            <a:extLst>
              <a:ext uri="{FF2B5EF4-FFF2-40B4-BE49-F238E27FC236}">
                <a16:creationId xmlns:a16="http://schemas.microsoft.com/office/drawing/2014/main" id="{51267ED3-08EC-DA70-7E92-E4AFC4D48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34441"/>
            <a:ext cx="10582331" cy="861294"/>
          </a:xfrm>
        </p:spPr>
        <p:txBody>
          <a:bodyPr/>
          <a:lstStyle/>
          <a:p>
            <a:pPr marL="0" indent="0">
              <a:buNone/>
            </a:pP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Παράδειγμα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rPPG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 Εκτίμηση Καρδιακού Ρυθμού 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HR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από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βίντεο προσώπου. </a:t>
            </a:r>
          </a:p>
          <a:p>
            <a:endParaRPr lang="el-GR" dirty="0"/>
          </a:p>
        </p:txBody>
      </p:sp>
      <p:sp>
        <p:nvSpPr>
          <p:cNvPr id="18" name="Θέση ημερομηνίας 17">
            <a:extLst>
              <a:ext uri="{FF2B5EF4-FFF2-40B4-BE49-F238E27FC236}">
                <a16:creationId xmlns:a16="http://schemas.microsoft.com/office/drawing/2014/main" id="{0AEE4E64-49F2-9E28-185C-DD3F58DB5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err="1"/>
              <a:t>Ηλί</a:t>
            </a:r>
            <a:r>
              <a:rPr lang="en-US" dirty="0"/>
              <a:t>ας Ξανθόπουλος 58545</a:t>
            </a:r>
            <a:endParaRPr lang="el-GR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CCF0942-909C-3913-6A2A-13E5AC5F7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848882"/>
            <a:ext cx="7591798" cy="2131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0B5FE181-81FF-05BE-76C6-C2DA7C4A6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139268"/>
            <a:ext cx="7591798" cy="2131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21D747-519F-CC36-37CC-C40C451A15C3}"/>
              </a:ext>
            </a:extLst>
          </p:cNvPr>
          <p:cNvCxnSpPr>
            <a:cxnSpLocks/>
          </p:cNvCxnSpPr>
          <p:nvPr/>
        </p:nvCxnSpPr>
        <p:spPr>
          <a:xfrm>
            <a:off x="7958066" y="3199334"/>
            <a:ext cx="0" cy="939934"/>
          </a:xfrm>
          <a:prstGeom prst="straightConnector1">
            <a:avLst/>
          </a:prstGeom>
          <a:ln w="762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F9DB4AB-EF9C-5328-3DBA-5E62B84464B3}"/>
              </a:ext>
            </a:extLst>
          </p:cNvPr>
          <p:cNvGrpSpPr/>
          <p:nvPr/>
        </p:nvGrpSpPr>
        <p:grpSpPr>
          <a:xfrm>
            <a:off x="366269" y="2423322"/>
            <a:ext cx="3605599" cy="3431892"/>
            <a:chOff x="284719" y="2395293"/>
            <a:chExt cx="3605599" cy="3431892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E66B019C-3676-F6EC-C911-EE53BC1149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719" y="2395293"/>
              <a:ext cx="3605599" cy="28572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4EB966-47A0-E9C8-B107-0E42BCE0A3DB}"/>
                </a:ext>
              </a:extLst>
            </p:cNvPr>
            <p:cNvSpPr txBox="1"/>
            <p:nvPr/>
          </p:nvSpPr>
          <p:spPr>
            <a:xfrm>
              <a:off x="284720" y="5180854"/>
              <a:ext cx="36055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Fig 3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: Sample frame of “Subject 45” of UBFC-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rPPG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Dataset</a:t>
              </a:r>
              <a:r>
                <a:rPr lang="en-US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[</a:t>
              </a:r>
              <a:r>
                <a:rPr lang="el-GR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]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4B00F38-73D9-250C-8DE2-A7E399230340}"/>
              </a:ext>
            </a:extLst>
          </p:cNvPr>
          <p:cNvCxnSpPr/>
          <p:nvPr/>
        </p:nvCxnSpPr>
        <p:spPr>
          <a:xfrm flipV="1">
            <a:off x="3267533" y="3236815"/>
            <a:ext cx="1408670" cy="432486"/>
          </a:xfrm>
          <a:prstGeom prst="straightConnector1">
            <a:avLst/>
          </a:prstGeom>
          <a:ln w="762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F16CDA2-A444-4A17-C748-48CFE0AA1851}"/>
              </a:ext>
            </a:extLst>
          </p:cNvPr>
          <p:cNvSpPr/>
          <p:nvPr/>
        </p:nvSpPr>
        <p:spPr>
          <a:xfrm>
            <a:off x="3401539" y="3669301"/>
            <a:ext cx="2271128" cy="638406"/>
          </a:xfrm>
          <a:prstGeom prst="roundRect">
            <a:avLst/>
          </a:prstGeom>
          <a:solidFill>
            <a:srgbClr val="E0E0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27432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 Averaging of G channel ROI</a:t>
            </a:r>
          </a:p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F4049AA-3769-F7C9-7B56-BCCCFBBD026D}"/>
              </a:ext>
            </a:extLst>
          </p:cNvPr>
          <p:cNvSpPr/>
          <p:nvPr/>
        </p:nvSpPr>
        <p:spPr>
          <a:xfrm>
            <a:off x="8153400" y="3277974"/>
            <a:ext cx="2271128" cy="861294"/>
          </a:xfrm>
          <a:prstGeom prst="roundRect">
            <a:avLst/>
          </a:prstGeom>
          <a:solidFill>
            <a:srgbClr val="E0E0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27432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 + Bandpass Filtering + STFT</a:t>
            </a:r>
          </a:p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022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14DC8-2CBF-B56B-6048-A3BD6648B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10B6487-9AF8-B738-ED79-C5A73BB5634C}"/>
              </a:ext>
            </a:extLst>
          </p:cNvPr>
          <p:cNvSpPr/>
          <p:nvPr/>
        </p:nvSpPr>
        <p:spPr>
          <a:xfrm>
            <a:off x="6458008" y="1219199"/>
            <a:ext cx="5147252" cy="2920991"/>
          </a:xfrm>
          <a:prstGeom prst="roundRect">
            <a:avLst/>
          </a:prstGeom>
          <a:solidFill>
            <a:srgbClr val="E0E0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529E6780-A0A0-F740-C831-D906708E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 dirty="0" err="1">
                <a:latin typeface="Arial" panose="020B0604020202020204" pitchFamily="34" charset="0"/>
                <a:cs typeface="Arial" panose="020B0604020202020204" pitchFamily="34" charset="0"/>
              </a:rPr>
              <a:t>Βιοϊατρική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 Τεχνολογία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495F751-2A9B-23B8-D69C-1CD5B71D2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l-G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Ευθεία γραμμή σύνδεσης 10">
            <a:extLst>
              <a:ext uri="{FF2B5EF4-FFF2-40B4-BE49-F238E27FC236}">
                <a16:creationId xmlns:a16="http://schemas.microsoft.com/office/drawing/2014/main" id="{12C811B5-D94E-08F3-1749-E0678B77E25E}"/>
              </a:ext>
            </a:extLst>
          </p:cNvPr>
          <p:cNvCxnSpPr/>
          <p:nvPr/>
        </p:nvCxnSpPr>
        <p:spPr>
          <a:xfrm>
            <a:off x="586740" y="1082040"/>
            <a:ext cx="1101852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Τίτλος 1">
            <a:extLst>
              <a:ext uri="{FF2B5EF4-FFF2-40B4-BE49-F238E27FC236}">
                <a16:creationId xmlns:a16="http://schemas.microsoft.com/office/drawing/2014/main" id="{E61905AA-E5CB-2559-0017-3731D0498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410" y="60325"/>
            <a:ext cx="10965180" cy="1325563"/>
          </a:xfrm>
        </p:spPr>
        <p:txBody>
          <a:bodyPr>
            <a:normAutofit/>
          </a:bodyPr>
          <a:lstStyle/>
          <a:p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Αξιολόγηση Τεχνολογίας: Υπολογισμός </a:t>
            </a:r>
            <a:r>
              <a:rPr lang="en-US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HR &amp; SpO2 </a:t>
            </a:r>
            <a:endParaRPr lang="el-GR" sz="36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5" name="Θέση περιεχομένου 2">
            <a:extLst>
              <a:ext uri="{FF2B5EF4-FFF2-40B4-BE49-F238E27FC236}">
                <a16:creationId xmlns:a16="http://schemas.microsoft.com/office/drawing/2014/main" id="{A76ADAA8-3BF8-F752-BFAE-7F4ACE5F0171}"/>
              </a:ext>
            </a:extLst>
          </p:cNvPr>
          <p:cNvSpPr txBox="1">
            <a:spLocks/>
          </p:cNvSpPr>
          <p:nvPr/>
        </p:nvSpPr>
        <p:spPr>
          <a:xfrm>
            <a:off x="838200" y="1219200"/>
            <a:ext cx="10515600" cy="5074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8" name="Θέση ημερομηνίας 17">
            <a:extLst>
              <a:ext uri="{FF2B5EF4-FFF2-40B4-BE49-F238E27FC236}">
                <a16:creationId xmlns:a16="http://schemas.microsoft.com/office/drawing/2014/main" id="{99DF910B-912D-3FFA-8900-C2B4335D0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993B16C-B6F5-CB0B-1B33-39763EAB64B9}"/>
              </a:ext>
            </a:extLst>
          </p:cNvPr>
          <p:cNvSpPr/>
          <p:nvPr/>
        </p:nvSpPr>
        <p:spPr>
          <a:xfrm>
            <a:off x="584618" y="1219203"/>
            <a:ext cx="5149375" cy="2920996"/>
          </a:xfrm>
          <a:prstGeom prst="roundRect">
            <a:avLst/>
          </a:prstGeom>
          <a:solidFill>
            <a:srgbClr val="E0E0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Θέση περιεχομένου 16">
            <a:extLst>
              <a:ext uri="{FF2B5EF4-FFF2-40B4-BE49-F238E27FC236}">
                <a16:creationId xmlns:a16="http://schemas.microsoft.com/office/drawing/2014/main" id="{0E5E6CBC-E3EA-8C21-D5A6-21350B7188D8}"/>
              </a:ext>
            </a:extLst>
          </p:cNvPr>
          <p:cNvSpPr txBox="1">
            <a:spLocks/>
          </p:cNvSpPr>
          <p:nvPr/>
        </p:nvSpPr>
        <p:spPr>
          <a:xfrm>
            <a:off x="611288" y="1818214"/>
            <a:ext cx="5122705" cy="2321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HR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l-GR" sz="22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LED </a:t>
            </a:r>
            <a:r>
              <a:rPr lang="el-GR" sz="20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→</a:t>
            </a:r>
            <a:r>
              <a:rPr lang="en-US" sz="20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Συχνότητα μεταβολής έντασης φωτός στον </a:t>
            </a:r>
            <a:r>
              <a:rPr lang="el-GR" sz="2200" dirty="0" err="1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φωτοαισθητήρα</a:t>
            </a:r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.</a:t>
            </a:r>
            <a:endParaRPr lang="el-GR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SpO2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2</a:t>
            </a:r>
            <a:r>
              <a:rPr lang="el-GR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LED (Red &amp; Infrared) </a:t>
            </a:r>
            <a:r>
              <a:rPr lang="el-GR" sz="20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→</a:t>
            </a:r>
            <a:r>
              <a:rPr lang="en-US" sz="20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Λόγος απορρόφησης 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Red (</a:t>
            </a:r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όχι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O</a:t>
            </a:r>
            <a:r>
              <a:rPr lang="en-US" sz="2200" baseline="-250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2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)</a:t>
            </a:r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προς 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IR (O</a:t>
            </a:r>
            <a:r>
              <a:rPr lang="en-US" sz="2200" baseline="-250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2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)</a:t>
            </a:r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.</a:t>
            </a:r>
            <a:endParaRPr lang="el-GR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27442A-6FA5-2379-D5E4-CC3EF13ED829}"/>
              </a:ext>
            </a:extLst>
          </p:cNvPr>
          <p:cNvSpPr txBox="1"/>
          <p:nvPr/>
        </p:nvSpPr>
        <p:spPr>
          <a:xfrm>
            <a:off x="2349607" y="1353930"/>
            <a:ext cx="18644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PPG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A4E302-FF8C-6AD9-E721-D54EBCBB93CD}"/>
              </a:ext>
            </a:extLst>
          </p:cNvPr>
          <p:cNvSpPr txBox="1"/>
          <p:nvPr/>
        </p:nvSpPr>
        <p:spPr>
          <a:xfrm>
            <a:off x="7886892" y="1350902"/>
            <a:ext cx="228948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Remote PPG</a:t>
            </a:r>
          </a:p>
        </p:txBody>
      </p:sp>
      <p:sp>
        <p:nvSpPr>
          <p:cNvPr id="13" name="Θέση περιεχομένου 16">
            <a:extLst>
              <a:ext uri="{FF2B5EF4-FFF2-40B4-BE49-F238E27FC236}">
                <a16:creationId xmlns:a16="http://schemas.microsoft.com/office/drawing/2014/main" id="{51D9EC46-3D95-18EE-B157-FAC030CBC3E7}"/>
              </a:ext>
            </a:extLst>
          </p:cNvPr>
          <p:cNvSpPr txBox="1">
            <a:spLocks/>
          </p:cNvSpPr>
          <p:nvPr/>
        </p:nvSpPr>
        <p:spPr>
          <a:xfrm>
            <a:off x="6482555" y="1818214"/>
            <a:ext cx="5122705" cy="2321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HR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l-GR" sz="22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Channel </a:t>
            </a:r>
            <a:r>
              <a:rPr lang="el-GR" sz="20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→</a:t>
            </a:r>
            <a:r>
              <a:rPr lang="en-US" sz="20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Συχνότητα μεταβολής έντασης χρωματικού καναλιού.</a:t>
            </a:r>
            <a:endParaRPr lang="el-GR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SpO2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2</a:t>
            </a:r>
            <a:r>
              <a:rPr lang="el-GR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Channels (Red &amp; Green) </a:t>
            </a:r>
            <a:r>
              <a:rPr lang="el-GR" sz="20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→</a:t>
            </a:r>
            <a:r>
              <a:rPr lang="en-US" sz="20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Λόγος μεταβολής έντασης καναλιού 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Red (</a:t>
            </a:r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όχι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O</a:t>
            </a:r>
            <a:r>
              <a:rPr lang="en-US" sz="2200" baseline="-250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2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)</a:t>
            </a:r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προς 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Green (O</a:t>
            </a:r>
            <a:r>
              <a:rPr lang="en-US" sz="2200" baseline="-250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2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)</a:t>
            </a:r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.</a:t>
            </a:r>
            <a:endParaRPr lang="el-GR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Θέση περιεχομένου 16">
                <a:extLst>
                  <a:ext uri="{FF2B5EF4-FFF2-40B4-BE49-F238E27FC236}">
                    <a16:creationId xmlns:a16="http://schemas.microsoft.com/office/drawing/2014/main" id="{09E8DCEC-2CB3-B4FC-E1BB-089390B08C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0100" y="4349546"/>
                <a:ext cx="5511800" cy="173520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Ratio of ratios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𝑅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𝐴𝐶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/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𝐷𝐶</m:t>
                                </m:r>
                              </m:e>
                            </m:d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𝑒𝑑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𝐴𝐶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/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𝐷𝐶</m:t>
                                </m:r>
                              </m:e>
                            </m:d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𝐼𝑅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𝑜𝑟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𝐺𝑟𝑒𝑒𝑛</m:t>
                            </m:r>
                          </m:sub>
                        </m:sSub>
                      </m:den>
                    </m:f>
                  </m:oMath>
                </a14:m>
                <a:endParaRPr lang="en-US" sz="2200" dirty="0"/>
              </a:p>
              <a:p>
                <a:pPr marL="0" indent="0" algn="ctr">
                  <a:buNone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AC: Blood Volume Pulse, DC: Baseline</a:t>
                </a:r>
              </a:p>
              <a:p>
                <a:pPr marL="0" indent="0" algn="ctr">
                  <a:buNone/>
                </a:pPr>
                <a:r>
                  <a:rPr lang="el-GR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Συχνότητα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BVP </a:t>
                </a:r>
                <a:r>
                  <a:rPr lang="el-GR" sz="22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→ </a:t>
                </a:r>
                <a:r>
                  <a:rPr lang="en-US" sz="2200" b="1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HR</a:t>
                </a:r>
                <a:endParaRPr lang="en-US" sz="2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:r>
                  <a:rPr lang="el-GR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Μικρό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l-GR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l-GR" sz="22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→ Μεγάλο </a:t>
                </a:r>
                <a:r>
                  <a:rPr lang="en-US" sz="2200" b="1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SpO2</a:t>
                </a:r>
                <a:endParaRPr lang="el-GR" sz="2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9" name="Θέση περιεχομένου 16">
                <a:extLst>
                  <a:ext uri="{FF2B5EF4-FFF2-40B4-BE49-F238E27FC236}">
                    <a16:creationId xmlns:a16="http://schemas.microsoft.com/office/drawing/2014/main" id="{09E8DCEC-2CB3-B4FC-E1BB-089390B08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100" y="4349546"/>
                <a:ext cx="5511800" cy="1735208"/>
              </a:xfrm>
              <a:prstGeom prst="rect">
                <a:avLst/>
              </a:prstGeom>
              <a:blipFill>
                <a:blip r:embed="rId2"/>
                <a:stretch>
                  <a:fillRect t="-2113" b="-5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191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9" grpId="0" animBg="1"/>
      <p:bldP spid="10" grpId="0"/>
      <p:bldP spid="12" grpId="0"/>
      <p:bldP spid="16" grpId="0"/>
      <p:bldP spid="13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E3AB9-F829-621A-3421-B41B9D532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A570E688-9A7A-AB48-586B-9E4FE2692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>
                <a:latin typeface="Arial" panose="020B0604020202020204" pitchFamily="34" charset="0"/>
                <a:cs typeface="Arial" panose="020B0604020202020204" pitchFamily="34" charset="0"/>
              </a:rPr>
              <a:t>Βιοϊατρική Τεχνολογία</a:t>
            </a:r>
            <a:endParaRPr lang="el-G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2295804-D15E-FDD9-D7FA-DF34C1FD9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l-G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Ευθεία γραμμή σύνδεσης 10">
            <a:extLst>
              <a:ext uri="{FF2B5EF4-FFF2-40B4-BE49-F238E27FC236}">
                <a16:creationId xmlns:a16="http://schemas.microsoft.com/office/drawing/2014/main" id="{3CCC87CE-F846-AE9C-C170-6EB278C9A604}"/>
              </a:ext>
            </a:extLst>
          </p:cNvPr>
          <p:cNvCxnSpPr/>
          <p:nvPr/>
        </p:nvCxnSpPr>
        <p:spPr>
          <a:xfrm>
            <a:off x="586740" y="1082040"/>
            <a:ext cx="1101852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Τίτλος 1">
            <a:extLst>
              <a:ext uri="{FF2B5EF4-FFF2-40B4-BE49-F238E27FC236}">
                <a16:creationId xmlns:a16="http://schemas.microsoft.com/office/drawing/2014/main" id="{BFB1EE1B-3287-2DFB-A3F7-0E52C8F16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410" y="60325"/>
            <a:ext cx="10965180" cy="1325563"/>
          </a:xfrm>
        </p:spPr>
        <p:txBody>
          <a:bodyPr>
            <a:normAutofit/>
          </a:bodyPr>
          <a:lstStyle/>
          <a:p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Αξιολόγηση Τεχνολογίας: Χρήση </a:t>
            </a:r>
            <a:r>
              <a:rPr lang="en-US" sz="3600" dirty="0" err="1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rPPG</a:t>
            </a:r>
            <a:endParaRPr lang="el-GR" sz="36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8" name="Θέση ημερομηνίας 17">
            <a:extLst>
              <a:ext uri="{FF2B5EF4-FFF2-40B4-BE49-F238E27FC236}">
                <a16:creationId xmlns:a16="http://schemas.microsoft.com/office/drawing/2014/main" id="{468E183C-3CB3-3E5E-56A5-99C15E02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C49C66C-B527-1F92-7DC8-F3F5D460CFC4}"/>
              </a:ext>
            </a:extLst>
          </p:cNvPr>
          <p:cNvGrpSpPr/>
          <p:nvPr/>
        </p:nvGrpSpPr>
        <p:grpSpPr>
          <a:xfrm>
            <a:off x="613410" y="1556090"/>
            <a:ext cx="3425190" cy="4630057"/>
            <a:chOff x="613410" y="1556090"/>
            <a:chExt cx="3425190" cy="463005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F533E70-2903-D0AC-3880-CA4159F2AE7E}"/>
                </a:ext>
              </a:extLst>
            </p:cNvPr>
            <p:cNvSpPr/>
            <p:nvPr/>
          </p:nvSpPr>
          <p:spPr>
            <a:xfrm>
              <a:off x="613410" y="1556090"/>
              <a:ext cx="3425190" cy="4630057"/>
            </a:xfrm>
            <a:prstGeom prst="roundRect">
              <a:avLst/>
            </a:prstGeom>
            <a:solidFill>
              <a:srgbClr val="E0E0E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Θέση περιεχομένου 16">
              <a:extLst>
                <a:ext uri="{FF2B5EF4-FFF2-40B4-BE49-F238E27FC236}">
                  <a16:creationId xmlns:a16="http://schemas.microsoft.com/office/drawing/2014/main" id="{AC43FDBD-EE43-7C68-B172-E87EF6A8EF87}"/>
                </a:ext>
              </a:extLst>
            </p:cNvPr>
            <p:cNvSpPr txBox="1">
              <a:spLocks/>
            </p:cNvSpPr>
            <p:nvPr/>
          </p:nvSpPr>
          <p:spPr>
            <a:xfrm>
              <a:off x="613410" y="1813971"/>
              <a:ext cx="3425190" cy="396199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l-GR" sz="2200" b="1" dirty="0">
                  <a:latin typeface="Arial" panose="020B0604020202020204" pitchFamily="34" charset="0"/>
                  <a:cs typeface="Arial" panose="020B0604020202020204" pitchFamily="34" charset="0"/>
                </a:rPr>
                <a:t>Κλινικό Επίπεδο</a:t>
              </a:r>
              <a:endParaRPr lang="en-US" sz="2200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>
                <a:buNone/>
              </a:pPr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Από ιατρικό προσωπικό σε:</a:t>
              </a:r>
            </a:p>
            <a:p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Μονάδες Εντατικής Νοσηλείας Νεογνών.</a:t>
              </a:r>
            </a:p>
            <a:p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Ασθενείς με εγκαύματα.</a:t>
              </a:r>
            </a:p>
            <a:p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Ιατρικούς Ελέγχους → Καταπολέμηση </a:t>
              </a:r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“White Coat Effect”</a:t>
              </a:r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FAA3DC3-4217-6C8E-6386-E601C068F1F7}"/>
              </a:ext>
            </a:extLst>
          </p:cNvPr>
          <p:cNvGrpSpPr/>
          <p:nvPr/>
        </p:nvGrpSpPr>
        <p:grpSpPr>
          <a:xfrm>
            <a:off x="4383405" y="1556090"/>
            <a:ext cx="3425190" cy="4630057"/>
            <a:chOff x="4383405" y="1556090"/>
            <a:chExt cx="3425190" cy="463005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BBBFD2F-544E-201D-6993-650CEB3A7A28}"/>
                </a:ext>
              </a:extLst>
            </p:cNvPr>
            <p:cNvSpPr/>
            <p:nvPr/>
          </p:nvSpPr>
          <p:spPr>
            <a:xfrm>
              <a:off x="4383405" y="1556090"/>
              <a:ext cx="3425190" cy="4630057"/>
            </a:xfrm>
            <a:prstGeom prst="roundRect">
              <a:avLst/>
            </a:prstGeom>
            <a:solidFill>
              <a:srgbClr val="E0E0E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Θέση περιεχομένου 16">
              <a:extLst>
                <a:ext uri="{FF2B5EF4-FFF2-40B4-BE49-F238E27FC236}">
                  <a16:creationId xmlns:a16="http://schemas.microsoft.com/office/drawing/2014/main" id="{608710A7-6280-DCCD-390C-9CFD75FB77E9}"/>
                </a:ext>
              </a:extLst>
            </p:cNvPr>
            <p:cNvSpPr txBox="1">
              <a:spLocks/>
            </p:cNvSpPr>
            <p:nvPr/>
          </p:nvSpPr>
          <p:spPr>
            <a:xfrm>
              <a:off x="4383405" y="1813198"/>
              <a:ext cx="3425190" cy="396276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l-GR" sz="2200" b="1" dirty="0">
                  <a:latin typeface="Arial" panose="020B0604020202020204" pitchFamily="34" charset="0"/>
                  <a:cs typeface="Arial" panose="020B0604020202020204" pitchFamily="34" charset="0"/>
                </a:rPr>
                <a:t>Οικιακή/Φορητή Χρήση</a:t>
              </a:r>
              <a:endParaRPr lang="el-GR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>
                <a:buNone/>
              </a:pPr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Από τους ίδιους τους ασθενείς μέσω </a:t>
              </a:r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mobile </a:t>
              </a:r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εφαρμογών για:</a:t>
              </a:r>
            </a:p>
            <a:p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Την απομακρυσμένη από ειδικούς παρακολούθηση.</a:t>
              </a:r>
            </a:p>
            <a:p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Την μείωση ανάγκης ειδικού εξοπλισμού.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4D31218-9F6A-2787-154E-A6CC2A51F9F8}"/>
              </a:ext>
            </a:extLst>
          </p:cNvPr>
          <p:cNvGrpSpPr/>
          <p:nvPr/>
        </p:nvGrpSpPr>
        <p:grpSpPr>
          <a:xfrm>
            <a:off x="8153400" y="1556090"/>
            <a:ext cx="3425190" cy="4640830"/>
            <a:chOff x="8153400" y="1556090"/>
            <a:chExt cx="3425190" cy="464083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CDC049F-38F8-EBF6-E9F6-BEB10A9D015B}"/>
                </a:ext>
              </a:extLst>
            </p:cNvPr>
            <p:cNvSpPr/>
            <p:nvPr/>
          </p:nvSpPr>
          <p:spPr>
            <a:xfrm>
              <a:off x="8153400" y="1556090"/>
              <a:ext cx="3425190" cy="4630057"/>
            </a:xfrm>
            <a:prstGeom prst="roundRect">
              <a:avLst/>
            </a:prstGeom>
            <a:solidFill>
              <a:srgbClr val="E0E0E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Θέση περιεχομένου 16">
              <a:extLst>
                <a:ext uri="{FF2B5EF4-FFF2-40B4-BE49-F238E27FC236}">
                  <a16:creationId xmlns:a16="http://schemas.microsoft.com/office/drawing/2014/main" id="{83DB3FB3-4CF9-AE53-E3E7-B307A9FA567A}"/>
                </a:ext>
              </a:extLst>
            </p:cNvPr>
            <p:cNvSpPr txBox="1">
              <a:spLocks/>
            </p:cNvSpPr>
            <p:nvPr/>
          </p:nvSpPr>
          <p:spPr>
            <a:xfrm>
              <a:off x="8153400" y="1813198"/>
              <a:ext cx="3425190" cy="438372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l-GR" sz="2200" b="1" dirty="0">
                  <a:latin typeface="Arial" panose="020B0604020202020204" pitchFamily="34" charset="0"/>
                  <a:cs typeface="Arial" panose="020B0604020202020204" pitchFamily="34" charset="0"/>
                </a:rPr>
                <a:t>Αυτοκινητοβιομηχανία</a:t>
              </a:r>
              <a:endParaRPr lang="el-GR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>
                <a:buNone/>
              </a:pPr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Παρακολούθηση της καρδιαγγειακής υγείας και κόπωσης του οδηγού σε </a:t>
              </a:r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DMS </a:t>
              </a:r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για:</a:t>
              </a:r>
            </a:p>
            <a:p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Την έγκαιρη προειδοποίηση.</a:t>
              </a:r>
            </a:p>
            <a:p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Αυτόματη ακινητοποίηση οχήματος σε περίπτωση ανάγκης.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7735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5F71D-BB55-A604-90E9-7815BBCD7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03637377-2B7C-8B7B-B0F7-8E40EF5E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 dirty="0" err="1">
                <a:latin typeface="Arial" panose="020B0604020202020204" pitchFamily="34" charset="0"/>
                <a:cs typeface="Arial" panose="020B0604020202020204" pitchFamily="34" charset="0"/>
              </a:rPr>
              <a:t>Βιοϊατρική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 Τεχνολογία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CA109D9-210A-2D98-A7AD-47B9A463D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l-G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Ευθεία γραμμή σύνδεσης 10">
            <a:extLst>
              <a:ext uri="{FF2B5EF4-FFF2-40B4-BE49-F238E27FC236}">
                <a16:creationId xmlns:a16="http://schemas.microsoft.com/office/drawing/2014/main" id="{C1043703-4281-30A1-83C0-053EFD45D65F}"/>
              </a:ext>
            </a:extLst>
          </p:cNvPr>
          <p:cNvCxnSpPr/>
          <p:nvPr/>
        </p:nvCxnSpPr>
        <p:spPr>
          <a:xfrm>
            <a:off x="586740" y="1082040"/>
            <a:ext cx="1101852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Τίτλος 1">
            <a:extLst>
              <a:ext uri="{FF2B5EF4-FFF2-40B4-BE49-F238E27FC236}">
                <a16:creationId xmlns:a16="http://schemas.microsoft.com/office/drawing/2014/main" id="{4FD6CACF-C2DD-F821-77DD-04B942B8C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410" y="60325"/>
            <a:ext cx="10965180" cy="1325563"/>
          </a:xfrm>
        </p:spPr>
        <p:txBody>
          <a:bodyPr>
            <a:normAutofit/>
          </a:bodyPr>
          <a:lstStyle/>
          <a:p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Αξιολόγηση Τεχνολογίας: Χρήση </a:t>
            </a:r>
            <a:r>
              <a:rPr lang="en-US" sz="3600" dirty="0" err="1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rPPG</a:t>
            </a:r>
            <a:endParaRPr lang="el-GR" sz="36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8" name="Θέση ημερομηνίας 17">
            <a:extLst>
              <a:ext uri="{FF2B5EF4-FFF2-40B4-BE49-F238E27FC236}">
                <a16:creationId xmlns:a16="http://schemas.microsoft.com/office/drawing/2014/main" id="{F4530487-2BE6-3624-5351-6E48D68CB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2DA68F-C780-9F2F-ABC7-BFB365984A3B}"/>
              </a:ext>
            </a:extLst>
          </p:cNvPr>
          <p:cNvGrpSpPr/>
          <p:nvPr/>
        </p:nvGrpSpPr>
        <p:grpSpPr>
          <a:xfrm>
            <a:off x="613410" y="1556090"/>
            <a:ext cx="3425190" cy="4630057"/>
            <a:chOff x="613410" y="1556090"/>
            <a:chExt cx="3425190" cy="463005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12FAB59-E262-42B5-AF9B-12F3BEA191EC}"/>
                </a:ext>
              </a:extLst>
            </p:cNvPr>
            <p:cNvSpPr/>
            <p:nvPr/>
          </p:nvSpPr>
          <p:spPr>
            <a:xfrm>
              <a:off x="613410" y="1556090"/>
              <a:ext cx="3425190" cy="4630057"/>
            </a:xfrm>
            <a:prstGeom prst="roundRect">
              <a:avLst/>
            </a:prstGeom>
            <a:solidFill>
              <a:srgbClr val="E0E0E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Θέση περιεχομένου 16">
              <a:extLst>
                <a:ext uri="{FF2B5EF4-FFF2-40B4-BE49-F238E27FC236}">
                  <a16:creationId xmlns:a16="http://schemas.microsoft.com/office/drawing/2014/main" id="{B5BF05AE-C89A-D9F5-EAC1-9225E4AD6E38}"/>
                </a:ext>
              </a:extLst>
            </p:cNvPr>
            <p:cNvSpPr txBox="1">
              <a:spLocks/>
            </p:cNvSpPr>
            <p:nvPr/>
          </p:nvSpPr>
          <p:spPr>
            <a:xfrm>
              <a:off x="613410" y="1813971"/>
              <a:ext cx="3425190" cy="396199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l-GR" sz="2200" b="1" dirty="0">
                  <a:latin typeface="Arial" panose="020B0604020202020204" pitchFamily="34" charset="0"/>
                  <a:cs typeface="Arial" panose="020B0604020202020204" pitchFamily="34" charset="0"/>
                </a:rPr>
                <a:t>Κλινικό Επίπεδο</a:t>
              </a:r>
              <a:endParaRPr lang="en-US" sz="2200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>
                <a:buNone/>
              </a:pPr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Από ιατρικό προσωπικό σε:</a:t>
              </a:r>
            </a:p>
            <a:p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Μονάδες Εντατικής Νοσηλείας Νεογνών.</a:t>
              </a:r>
            </a:p>
            <a:p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Ασθενείς με εγκαύματα.</a:t>
              </a:r>
            </a:p>
            <a:p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Ιατρικούς Ελέγχους → Καταπολέμηση </a:t>
              </a:r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“White Coat Effect”</a:t>
              </a:r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F63824E-6CBA-A104-ACF0-8F30AFB257A3}"/>
              </a:ext>
            </a:extLst>
          </p:cNvPr>
          <p:cNvGrpSpPr/>
          <p:nvPr/>
        </p:nvGrpSpPr>
        <p:grpSpPr>
          <a:xfrm>
            <a:off x="6096000" y="2084128"/>
            <a:ext cx="4496503" cy="3573981"/>
            <a:chOff x="6096000" y="2084128"/>
            <a:chExt cx="4496503" cy="3573981"/>
          </a:xfrm>
        </p:grpSpPr>
        <p:pic>
          <p:nvPicPr>
            <p:cNvPr id="9" name="Picture 2" descr="figure 4">
              <a:extLst>
                <a:ext uri="{FF2B5EF4-FFF2-40B4-BE49-F238E27FC236}">
                  <a16:creationId xmlns:a16="http://schemas.microsoft.com/office/drawing/2014/main" id="{6C6D17E9-E93E-FAA5-9113-D24216EA99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0" y="2084128"/>
              <a:ext cx="4496503" cy="2927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A2DDD9D-1ACD-5950-FAB7-25427B49E7D1}"/>
                </a:ext>
              </a:extLst>
            </p:cNvPr>
            <p:cNvSpPr txBox="1"/>
            <p:nvPr/>
          </p:nvSpPr>
          <p:spPr>
            <a:xfrm>
              <a:off x="6096001" y="5011778"/>
              <a:ext cx="44965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Fig 4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: Experimental setup for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rPPG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in NICU</a:t>
              </a:r>
              <a:r>
                <a:rPr lang="en-US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[5]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0141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C8A0F-1500-9938-D9ED-B537058E8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6E31989E-26CE-0869-0389-B482BB4F4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>
                <a:latin typeface="Arial" panose="020B0604020202020204" pitchFamily="34" charset="0"/>
                <a:cs typeface="Arial" panose="020B0604020202020204" pitchFamily="34" charset="0"/>
              </a:rPr>
              <a:t>Βιοϊατρική Τεχνολογία</a:t>
            </a:r>
            <a:endParaRPr lang="el-G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DCD7786F-9185-5DA5-61A1-309F52706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l-G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Ευθεία γραμμή σύνδεσης 10">
            <a:extLst>
              <a:ext uri="{FF2B5EF4-FFF2-40B4-BE49-F238E27FC236}">
                <a16:creationId xmlns:a16="http://schemas.microsoft.com/office/drawing/2014/main" id="{4204A544-58DD-A5C1-2C68-687CF0936EEC}"/>
              </a:ext>
            </a:extLst>
          </p:cNvPr>
          <p:cNvCxnSpPr/>
          <p:nvPr/>
        </p:nvCxnSpPr>
        <p:spPr>
          <a:xfrm>
            <a:off x="586740" y="1082040"/>
            <a:ext cx="1101852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Τίτλος 1">
            <a:extLst>
              <a:ext uri="{FF2B5EF4-FFF2-40B4-BE49-F238E27FC236}">
                <a16:creationId xmlns:a16="http://schemas.microsoft.com/office/drawing/2014/main" id="{2BF7E24E-44E0-633B-CA37-362035572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410" y="60325"/>
            <a:ext cx="10965180" cy="1325563"/>
          </a:xfrm>
        </p:spPr>
        <p:txBody>
          <a:bodyPr>
            <a:normAutofit/>
          </a:bodyPr>
          <a:lstStyle/>
          <a:p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Αξιολόγηση Τεχνολογίας: Χρήση </a:t>
            </a:r>
            <a:r>
              <a:rPr lang="en-US" sz="3600" dirty="0" err="1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rPPG</a:t>
            </a:r>
            <a:endParaRPr lang="el-GR" sz="36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8" name="Θέση ημερομηνίας 17">
            <a:extLst>
              <a:ext uri="{FF2B5EF4-FFF2-40B4-BE49-F238E27FC236}">
                <a16:creationId xmlns:a16="http://schemas.microsoft.com/office/drawing/2014/main" id="{B10F0E30-7A25-BC9A-5958-71F57A407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E10FCF5-D07B-42FE-4C31-D11F9B76A502}"/>
              </a:ext>
            </a:extLst>
          </p:cNvPr>
          <p:cNvGrpSpPr/>
          <p:nvPr/>
        </p:nvGrpSpPr>
        <p:grpSpPr>
          <a:xfrm>
            <a:off x="4383405" y="1556090"/>
            <a:ext cx="3425190" cy="4630057"/>
            <a:chOff x="4383405" y="1556090"/>
            <a:chExt cx="3425190" cy="463005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A9ABDC0-F8CF-85E4-12BF-D1ADADE23461}"/>
                </a:ext>
              </a:extLst>
            </p:cNvPr>
            <p:cNvSpPr/>
            <p:nvPr/>
          </p:nvSpPr>
          <p:spPr>
            <a:xfrm>
              <a:off x="4383405" y="1556090"/>
              <a:ext cx="3425190" cy="4630057"/>
            </a:xfrm>
            <a:prstGeom prst="roundRect">
              <a:avLst/>
            </a:prstGeom>
            <a:solidFill>
              <a:srgbClr val="E0E0E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Θέση περιεχομένου 16">
              <a:extLst>
                <a:ext uri="{FF2B5EF4-FFF2-40B4-BE49-F238E27FC236}">
                  <a16:creationId xmlns:a16="http://schemas.microsoft.com/office/drawing/2014/main" id="{8EB949A3-C1D2-C074-96E3-46612619BE84}"/>
                </a:ext>
              </a:extLst>
            </p:cNvPr>
            <p:cNvSpPr txBox="1">
              <a:spLocks/>
            </p:cNvSpPr>
            <p:nvPr/>
          </p:nvSpPr>
          <p:spPr>
            <a:xfrm>
              <a:off x="4383405" y="1813198"/>
              <a:ext cx="3425190" cy="396276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l-GR" sz="2200" b="1" dirty="0">
                  <a:latin typeface="Arial" panose="020B0604020202020204" pitchFamily="34" charset="0"/>
                  <a:cs typeface="Arial" panose="020B0604020202020204" pitchFamily="34" charset="0"/>
                </a:rPr>
                <a:t>Οικιακή/Φορητή Χρήση</a:t>
              </a:r>
              <a:endParaRPr lang="el-GR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>
                <a:buNone/>
              </a:pPr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Από τους ίδιους τους ασθενείς μέσω </a:t>
              </a:r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mobile </a:t>
              </a:r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εφαρμογών για:</a:t>
              </a:r>
            </a:p>
            <a:p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Την απομακρυσμένη από ειδικούς παρακολούθηση.</a:t>
              </a:r>
            </a:p>
            <a:p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Την μείωση ανάγκης ειδικού εξοπλισμού.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25C7470-D93E-C462-9F28-28137EA0E2AF}"/>
              </a:ext>
            </a:extLst>
          </p:cNvPr>
          <p:cNvGrpSpPr/>
          <p:nvPr/>
        </p:nvGrpSpPr>
        <p:grpSpPr>
          <a:xfrm>
            <a:off x="316088" y="1924050"/>
            <a:ext cx="3787424" cy="3648936"/>
            <a:chOff x="316088" y="1924050"/>
            <a:chExt cx="3787424" cy="364893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B169B98-C2FB-9A6C-1A93-DDCBD2E4EE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088" y="1924050"/>
              <a:ext cx="3787424" cy="30099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44E6A87-2151-1B0D-1D5C-4674D898B434}"/>
                </a:ext>
              </a:extLst>
            </p:cNvPr>
            <p:cNvSpPr txBox="1"/>
            <p:nvPr/>
          </p:nvSpPr>
          <p:spPr>
            <a:xfrm>
              <a:off x="316088" y="4926655"/>
              <a:ext cx="37874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Fig 5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: Health monitoring app of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PanopticAI</a:t>
              </a:r>
              <a:r>
                <a:rPr lang="en-US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[6]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9538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D0018-E312-772D-DDDA-856C924C3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5409BD5A-D84A-A1AF-DA01-60A207E41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>
                <a:latin typeface="Arial" panose="020B0604020202020204" pitchFamily="34" charset="0"/>
                <a:cs typeface="Arial" panose="020B0604020202020204" pitchFamily="34" charset="0"/>
              </a:rPr>
              <a:t>Βιοϊατρική Τεχνολογία</a:t>
            </a:r>
            <a:endParaRPr lang="el-G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2C70EDDD-CE6F-77E2-14DB-3F38F67EC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l-G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Ευθεία γραμμή σύνδεσης 10">
            <a:extLst>
              <a:ext uri="{FF2B5EF4-FFF2-40B4-BE49-F238E27FC236}">
                <a16:creationId xmlns:a16="http://schemas.microsoft.com/office/drawing/2014/main" id="{60F9596A-27E3-E290-E344-195B13E10A0B}"/>
              </a:ext>
            </a:extLst>
          </p:cNvPr>
          <p:cNvCxnSpPr/>
          <p:nvPr/>
        </p:nvCxnSpPr>
        <p:spPr>
          <a:xfrm>
            <a:off x="586740" y="1082040"/>
            <a:ext cx="1101852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Τίτλος 1">
            <a:extLst>
              <a:ext uri="{FF2B5EF4-FFF2-40B4-BE49-F238E27FC236}">
                <a16:creationId xmlns:a16="http://schemas.microsoft.com/office/drawing/2014/main" id="{A53CAE39-CFB4-9EEB-EB60-01FC7A619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410" y="60325"/>
            <a:ext cx="10965180" cy="1325563"/>
          </a:xfrm>
        </p:spPr>
        <p:txBody>
          <a:bodyPr>
            <a:normAutofit/>
          </a:bodyPr>
          <a:lstStyle/>
          <a:p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Αξιολόγηση Τεχνολογίας: Χρήση </a:t>
            </a:r>
            <a:r>
              <a:rPr lang="en-US" sz="3600" dirty="0" err="1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rPPG</a:t>
            </a:r>
            <a:endParaRPr lang="el-GR" sz="36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8" name="Θέση ημερομηνίας 17">
            <a:extLst>
              <a:ext uri="{FF2B5EF4-FFF2-40B4-BE49-F238E27FC236}">
                <a16:creationId xmlns:a16="http://schemas.microsoft.com/office/drawing/2014/main" id="{3136E3C7-E246-8435-7AEE-98B4EBDDA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580234C-63AB-A792-BB67-559ECD5E2B50}"/>
              </a:ext>
            </a:extLst>
          </p:cNvPr>
          <p:cNvGrpSpPr/>
          <p:nvPr/>
        </p:nvGrpSpPr>
        <p:grpSpPr>
          <a:xfrm>
            <a:off x="8153400" y="1556090"/>
            <a:ext cx="3425190" cy="4640830"/>
            <a:chOff x="8153400" y="1556090"/>
            <a:chExt cx="3425190" cy="464083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930CA74-362E-C00B-E5B8-85405CD284B6}"/>
                </a:ext>
              </a:extLst>
            </p:cNvPr>
            <p:cNvSpPr/>
            <p:nvPr/>
          </p:nvSpPr>
          <p:spPr>
            <a:xfrm>
              <a:off x="8153400" y="1556090"/>
              <a:ext cx="3425190" cy="4630057"/>
            </a:xfrm>
            <a:prstGeom prst="roundRect">
              <a:avLst/>
            </a:prstGeom>
            <a:solidFill>
              <a:srgbClr val="E0E0E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Θέση περιεχομένου 16">
              <a:extLst>
                <a:ext uri="{FF2B5EF4-FFF2-40B4-BE49-F238E27FC236}">
                  <a16:creationId xmlns:a16="http://schemas.microsoft.com/office/drawing/2014/main" id="{F2E7486E-967D-E0BF-7C14-06C306C02BA0}"/>
                </a:ext>
              </a:extLst>
            </p:cNvPr>
            <p:cNvSpPr txBox="1">
              <a:spLocks/>
            </p:cNvSpPr>
            <p:nvPr/>
          </p:nvSpPr>
          <p:spPr>
            <a:xfrm>
              <a:off x="8153400" y="1813198"/>
              <a:ext cx="3425190" cy="438372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l-GR" sz="2200" b="1" dirty="0">
                  <a:latin typeface="Arial" panose="020B0604020202020204" pitchFamily="34" charset="0"/>
                  <a:cs typeface="Arial" panose="020B0604020202020204" pitchFamily="34" charset="0"/>
                </a:rPr>
                <a:t>Αυτοκινητοβιομηχανία</a:t>
              </a:r>
              <a:endParaRPr lang="el-GR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>
                <a:buNone/>
              </a:pPr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Παρακολούθηση της καρδιαγγειακής υγείας και κόπωσης του οδηγού σε </a:t>
              </a:r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DMS </a:t>
              </a:r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για:</a:t>
              </a:r>
            </a:p>
            <a:p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Την έγκαιρη προειδοποίηση.</a:t>
              </a:r>
            </a:p>
            <a:p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Αυτόματη ακινητοποίηση οχήματος σε περίπτωση ανάγκης.</a:t>
              </a:r>
            </a:p>
          </p:txBody>
        </p:sp>
      </p:grpSp>
      <p:pic>
        <p:nvPicPr>
          <p:cNvPr id="5122" name="Picture 2" descr="i-DMS 운전자 모니터링 실시간 화면">
            <a:extLst>
              <a:ext uri="{FF2B5EF4-FFF2-40B4-BE49-F238E27FC236}">
                <a16:creationId xmlns:a16="http://schemas.microsoft.com/office/drawing/2014/main" id="{138D3F5B-416E-A664-EBC1-47DC007E5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257" y="1732148"/>
            <a:ext cx="6284686" cy="3927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3AF993-3278-7ECC-9437-9B9267C4136C}"/>
              </a:ext>
            </a:extLst>
          </p:cNvPr>
          <p:cNvSpPr txBox="1"/>
          <p:nvPr/>
        </p:nvSpPr>
        <p:spPr>
          <a:xfrm>
            <a:off x="896258" y="5640758"/>
            <a:ext cx="6284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 5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Dashboard of </a:t>
            </a:r>
            <a:r>
              <a:rPr lang="en-US" dirty="0"/>
              <a:t>FunnyTech21's </a:t>
            </a:r>
            <a:r>
              <a:rPr lang="en-US" dirty="0" err="1"/>
              <a:t>i</a:t>
            </a:r>
            <a:r>
              <a:rPr lang="en-US" dirty="0"/>
              <a:t>-DMS that uses </a:t>
            </a:r>
            <a:r>
              <a:rPr lang="en-US" dirty="0" err="1"/>
              <a:t>rPPG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[7]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635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C6E7D9CE-CDD3-52C2-C4CD-E6DCF480C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 dirty="0" err="1">
                <a:latin typeface="Arial" panose="020B0604020202020204" pitchFamily="34" charset="0"/>
                <a:cs typeface="Arial" panose="020B0604020202020204" pitchFamily="34" charset="0"/>
              </a:rPr>
              <a:t>Βιοϊατρική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 Τεχνολογία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A7B4DC8-1585-1247-61AB-27D0179A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l-G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Ευθεία γραμμή σύνδεσης 10">
            <a:extLst>
              <a:ext uri="{FF2B5EF4-FFF2-40B4-BE49-F238E27FC236}">
                <a16:creationId xmlns:a16="http://schemas.microsoft.com/office/drawing/2014/main" id="{733385D8-C53F-F95C-C086-88B866035530}"/>
              </a:ext>
            </a:extLst>
          </p:cNvPr>
          <p:cNvCxnSpPr/>
          <p:nvPr/>
        </p:nvCxnSpPr>
        <p:spPr>
          <a:xfrm>
            <a:off x="586740" y="1082040"/>
            <a:ext cx="1101852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Τίτλος 1">
            <a:extLst>
              <a:ext uri="{FF2B5EF4-FFF2-40B4-BE49-F238E27FC236}">
                <a16:creationId xmlns:a16="http://schemas.microsoft.com/office/drawing/2014/main" id="{ADEB6B4B-F5CA-495A-7ED0-3208E0DED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410" y="60325"/>
            <a:ext cx="10965180" cy="1325563"/>
          </a:xfrm>
        </p:spPr>
        <p:txBody>
          <a:bodyPr>
            <a:normAutofit/>
          </a:bodyPr>
          <a:lstStyle/>
          <a:p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Αξιολόγηση Τεχνολογίας: Εξέλιξη </a:t>
            </a:r>
            <a:r>
              <a:rPr lang="en-US" sz="3600" dirty="0" err="1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rPPG</a:t>
            </a:r>
            <a:endParaRPr lang="el-GR" sz="36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8" name="Θέση ημερομηνίας 17">
            <a:extLst>
              <a:ext uri="{FF2B5EF4-FFF2-40B4-BE49-F238E27FC236}">
                <a16:creationId xmlns:a16="http://schemas.microsoft.com/office/drawing/2014/main" id="{ECA51BAC-B4F7-B92D-D281-3FC8DC6D4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err="1"/>
              <a:t>Ηλί</a:t>
            </a:r>
            <a:r>
              <a:rPr lang="en-US" dirty="0"/>
              <a:t>ας Ξανθόπουλος 58545</a:t>
            </a:r>
            <a:endParaRPr lang="el-GR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1780D14-8D5B-45C4-9AFE-D996128D376E}"/>
              </a:ext>
            </a:extLst>
          </p:cNvPr>
          <p:cNvGrpSpPr/>
          <p:nvPr/>
        </p:nvGrpSpPr>
        <p:grpSpPr>
          <a:xfrm>
            <a:off x="613410" y="1884812"/>
            <a:ext cx="3425190" cy="4395884"/>
            <a:chOff x="613410" y="1884812"/>
            <a:chExt cx="3425190" cy="439588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12FAB59-E262-42B5-AF9B-12F3BEA191EC}"/>
                </a:ext>
              </a:extLst>
            </p:cNvPr>
            <p:cNvSpPr/>
            <p:nvPr/>
          </p:nvSpPr>
          <p:spPr>
            <a:xfrm>
              <a:off x="613410" y="1884812"/>
              <a:ext cx="3425190" cy="4395884"/>
            </a:xfrm>
            <a:prstGeom prst="roundRect">
              <a:avLst/>
            </a:prstGeom>
            <a:solidFill>
              <a:srgbClr val="E0E0E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Θέση περιεχομένου 16">
              <a:extLst>
                <a:ext uri="{FF2B5EF4-FFF2-40B4-BE49-F238E27FC236}">
                  <a16:creationId xmlns:a16="http://schemas.microsoft.com/office/drawing/2014/main" id="{B5BF05AE-C89A-D9F5-EAC1-9225E4AD6E38}"/>
                </a:ext>
              </a:extLst>
            </p:cNvPr>
            <p:cNvSpPr txBox="1">
              <a:spLocks/>
            </p:cNvSpPr>
            <p:nvPr/>
          </p:nvSpPr>
          <p:spPr>
            <a:xfrm>
              <a:off x="613410" y="2829888"/>
              <a:ext cx="3425190" cy="345080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BSS (ICA, PCA), Model-based (CHROM, POS, PBV, 2SR)</a:t>
              </a:r>
              <a:endParaRPr lang="el-GR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buFont typeface="Arial" panose="020B0604020202020204" pitchFamily="34" charset="0"/>
                <a:buChar char="+"/>
              </a:pPr>
              <a:r>
                <a:rPr lang="el-GR" sz="20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Χαμηλό Υπολογιστικό Κόστος</a:t>
              </a:r>
            </a:p>
            <a:p>
              <a:pPr>
                <a:buFont typeface="Arial" panose="020B0604020202020204" pitchFamily="34" charset="0"/>
                <a:buChar char="+"/>
              </a:pPr>
              <a:r>
                <a:rPr lang="el-GR" sz="20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Όχι </a:t>
              </a:r>
              <a:r>
                <a:rPr lang="en-US" sz="20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data-driven</a:t>
              </a:r>
              <a:endParaRPr lang="el-GR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buFont typeface="Arial" panose="020B0604020202020204" pitchFamily="34" charset="0"/>
                <a:buChar char="-"/>
              </a:pPr>
              <a:r>
                <a:rPr lang="el-GR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Επιρρεπείς στον θόρυβο</a:t>
              </a:r>
            </a:p>
            <a:p>
              <a:pPr>
                <a:buFont typeface="Arial" panose="020B0604020202020204" pitchFamily="34" charset="0"/>
                <a:buChar char="-"/>
              </a:pPr>
              <a:r>
                <a:rPr lang="el-GR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Κάποιες μόνο</a:t>
              </a:r>
              <a:r>
                <a:rPr lang="en-US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Offline</a:t>
              </a:r>
              <a:endParaRPr lang="el-GR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Θέση περιεχομένου 16">
            <a:extLst>
              <a:ext uri="{FF2B5EF4-FFF2-40B4-BE49-F238E27FC236}">
                <a16:creationId xmlns:a16="http://schemas.microsoft.com/office/drawing/2014/main" id="{53635FB1-92AF-5554-2E00-A0609886D162}"/>
              </a:ext>
            </a:extLst>
          </p:cNvPr>
          <p:cNvSpPr txBox="1">
            <a:spLocks/>
          </p:cNvSpPr>
          <p:nvPr/>
        </p:nvSpPr>
        <p:spPr>
          <a:xfrm>
            <a:off x="1275680" y="1321370"/>
            <a:ext cx="2100649" cy="49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l-GR" sz="2400" b="1" dirty="0">
                <a:latin typeface="Arial" panose="020B0604020202020204" pitchFamily="34" charset="0"/>
                <a:cs typeface="Arial" panose="020B0604020202020204" pitchFamily="34" charset="0"/>
              </a:rPr>
              <a:t>2008-2017</a:t>
            </a:r>
            <a:endParaRPr lang="el-GR" sz="2400" b="1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9779433-ACB0-9758-A026-F9C9179766C5}"/>
              </a:ext>
            </a:extLst>
          </p:cNvPr>
          <p:cNvGrpSpPr/>
          <p:nvPr/>
        </p:nvGrpSpPr>
        <p:grpSpPr>
          <a:xfrm>
            <a:off x="4383405" y="1884816"/>
            <a:ext cx="3425190" cy="4491092"/>
            <a:chOff x="613410" y="1556090"/>
            <a:chExt cx="3425190" cy="4710091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CD4F61CF-2BED-D910-3213-748B65C64E2F}"/>
                </a:ext>
              </a:extLst>
            </p:cNvPr>
            <p:cNvSpPr/>
            <p:nvPr/>
          </p:nvSpPr>
          <p:spPr>
            <a:xfrm>
              <a:off x="613410" y="1556090"/>
              <a:ext cx="3425190" cy="4630057"/>
            </a:xfrm>
            <a:prstGeom prst="roundRect">
              <a:avLst/>
            </a:prstGeom>
            <a:solidFill>
              <a:srgbClr val="E0E0E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Θέση περιεχομένου 16">
              <a:extLst>
                <a:ext uri="{FF2B5EF4-FFF2-40B4-BE49-F238E27FC236}">
                  <a16:creationId xmlns:a16="http://schemas.microsoft.com/office/drawing/2014/main" id="{5D068DDC-DD82-EAB6-2869-E11C4A90E0E5}"/>
                </a:ext>
              </a:extLst>
            </p:cNvPr>
            <p:cNvSpPr txBox="1">
              <a:spLocks/>
            </p:cNvSpPr>
            <p:nvPr/>
          </p:nvSpPr>
          <p:spPr>
            <a:xfrm>
              <a:off x="613410" y="2547248"/>
              <a:ext cx="3425190" cy="37189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DeepPhys</a:t>
              </a:r>
              <a:r>
                <a:rPr lang="el-GR" sz="20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PhysNet</a:t>
              </a:r>
              <a:r>
                <a:rPr lang="el-GR" sz="20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TS-CAN</a:t>
              </a:r>
              <a:r>
                <a:rPr lang="el-GR" sz="20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PhysFormer</a:t>
              </a:r>
              <a:endParaRPr lang="el-GR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buFont typeface="Arial" panose="020B0604020202020204" pitchFamily="34" charset="0"/>
                <a:buChar char="+"/>
              </a:pPr>
              <a:r>
                <a:rPr lang="el-GR" sz="20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Μεγαλύτερη Ακρίβεια / Ανοχή στον θόρυβο</a:t>
              </a:r>
            </a:p>
            <a:p>
              <a:pPr>
                <a:buFont typeface="Arial" panose="020B0604020202020204" pitchFamily="34" charset="0"/>
                <a:buChar char="+"/>
              </a:pPr>
              <a:r>
                <a:rPr lang="el-GR" sz="20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Γραμμικότητα</a:t>
              </a:r>
            </a:p>
            <a:p>
              <a:pPr>
                <a:buFont typeface="Arial" panose="020B0604020202020204" pitchFamily="34" charset="0"/>
                <a:buChar char="-"/>
              </a:pPr>
              <a:r>
                <a:rPr lang="en-US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Hungry </a:t>
              </a:r>
              <a:r>
                <a:rPr lang="el-GR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→ </a:t>
              </a:r>
              <a:r>
                <a:rPr lang="en-US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Heat</a:t>
              </a:r>
              <a:endParaRPr lang="el-GR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buFont typeface="Arial" panose="020B0604020202020204" pitchFamily="34" charset="0"/>
                <a:buChar char="-"/>
              </a:pPr>
              <a:r>
                <a:rPr lang="el-GR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Εκπαίδευση</a:t>
              </a:r>
            </a:p>
            <a:p>
              <a:pPr>
                <a:buFont typeface="Arial" panose="020B0604020202020204" pitchFamily="34" charset="0"/>
                <a:buChar char="-"/>
              </a:pPr>
              <a:r>
                <a:rPr lang="en-US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Offline</a:t>
              </a:r>
              <a:endParaRPr lang="el-GR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1" name="Θέση περιεχομένου 16">
            <a:extLst>
              <a:ext uri="{FF2B5EF4-FFF2-40B4-BE49-F238E27FC236}">
                <a16:creationId xmlns:a16="http://schemas.microsoft.com/office/drawing/2014/main" id="{5A65F7E7-CF9D-D7F3-9E7E-47442469E062}"/>
              </a:ext>
            </a:extLst>
          </p:cNvPr>
          <p:cNvSpPr txBox="1">
            <a:spLocks/>
          </p:cNvSpPr>
          <p:nvPr/>
        </p:nvSpPr>
        <p:spPr>
          <a:xfrm>
            <a:off x="5045675" y="1321370"/>
            <a:ext cx="2100649" cy="49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l-GR" sz="2400" b="1" dirty="0">
                <a:latin typeface="Arial" panose="020B0604020202020204" pitchFamily="34" charset="0"/>
                <a:cs typeface="Arial" panose="020B0604020202020204" pitchFamily="34" charset="0"/>
              </a:rPr>
              <a:t>2018-2022</a:t>
            </a:r>
            <a:endParaRPr lang="el-GR" sz="2400" b="1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26A2EE3-CE5E-0DF2-5FE6-D4A5491E11AE}"/>
              </a:ext>
            </a:extLst>
          </p:cNvPr>
          <p:cNvCxnSpPr>
            <a:cxnSpLocks/>
          </p:cNvCxnSpPr>
          <p:nvPr/>
        </p:nvCxnSpPr>
        <p:spPr>
          <a:xfrm>
            <a:off x="7146325" y="1495932"/>
            <a:ext cx="1669346" cy="0"/>
          </a:xfrm>
          <a:prstGeom prst="straightConnector1">
            <a:avLst/>
          </a:prstGeom>
          <a:ln w="762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Θέση περιεχομένου 16">
            <a:extLst>
              <a:ext uri="{FF2B5EF4-FFF2-40B4-BE49-F238E27FC236}">
                <a16:creationId xmlns:a16="http://schemas.microsoft.com/office/drawing/2014/main" id="{E45CA4A0-974E-EF95-1BC2-108248FFE277}"/>
              </a:ext>
            </a:extLst>
          </p:cNvPr>
          <p:cNvSpPr txBox="1">
            <a:spLocks/>
          </p:cNvSpPr>
          <p:nvPr/>
        </p:nvSpPr>
        <p:spPr>
          <a:xfrm>
            <a:off x="8815671" y="1334225"/>
            <a:ext cx="2100649" cy="49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l-GR" sz="2400" b="1" dirty="0">
                <a:latin typeface="Arial" panose="020B0604020202020204" pitchFamily="34" charset="0"/>
                <a:cs typeface="Arial" panose="020B0604020202020204" pitchFamily="34" charset="0"/>
              </a:rPr>
              <a:t>2024-2025</a:t>
            </a:r>
            <a:endParaRPr lang="el-GR" sz="2400" b="1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62F730B-8BCF-3897-E1AF-932AEA4E5F24}"/>
              </a:ext>
            </a:extLst>
          </p:cNvPr>
          <p:cNvGrpSpPr/>
          <p:nvPr/>
        </p:nvGrpSpPr>
        <p:grpSpPr>
          <a:xfrm>
            <a:off x="8153400" y="1884813"/>
            <a:ext cx="3425190" cy="4491094"/>
            <a:chOff x="613410" y="1556090"/>
            <a:chExt cx="3425190" cy="4730339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81A40795-2E49-DD3B-0C0A-E592D4FD9583}"/>
                </a:ext>
              </a:extLst>
            </p:cNvPr>
            <p:cNvSpPr/>
            <p:nvPr/>
          </p:nvSpPr>
          <p:spPr>
            <a:xfrm>
              <a:off x="613410" y="1556090"/>
              <a:ext cx="3425190" cy="4630057"/>
            </a:xfrm>
            <a:prstGeom prst="roundRect">
              <a:avLst/>
            </a:prstGeom>
            <a:solidFill>
              <a:srgbClr val="E0E0E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Θέση περιεχομένου 16">
              <a:extLst>
                <a:ext uri="{FF2B5EF4-FFF2-40B4-BE49-F238E27FC236}">
                  <a16:creationId xmlns:a16="http://schemas.microsoft.com/office/drawing/2014/main" id="{B3628173-2B5F-2AB9-E01D-C654312D0230}"/>
                </a:ext>
              </a:extLst>
            </p:cNvPr>
            <p:cNvSpPr txBox="1">
              <a:spLocks/>
            </p:cNvSpPr>
            <p:nvPr/>
          </p:nvSpPr>
          <p:spPr>
            <a:xfrm>
              <a:off x="613410" y="2551511"/>
              <a:ext cx="3425190" cy="373491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RhythmMamba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MultiPhys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, ME-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rPPG</a:t>
              </a:r>
              <a:endParaRPr lang="el-GR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buFont typeface="Arial" panose="020B0604020202020204" pitchFamily="34" charset="0"/>
                <a:buChar char="+"/>
              </a:pPr>
              <a:r>
                <a:rPr lang="el-GR" sz="20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Απόλυτη Ακρίβεια / Ανοχή στον θόρυβο</a:t>
              </a:r>
            </a:p>
            <a:p>
              <a:pPr>
                <a:buFont typeface="Arial" panose="020B0604020202020204" pitchFamily="34" charset="0"/>
                <a:buChar char="+"/>
              </a:pPr>
              <a:r>
                <a:rPr lang="el-GR" sz="20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Ελαφριά</a:t>
              </a:r>
            </a:p>
            <a:p>
              <a:pPr>
                <a:buFont typeface="Arial" panose="020B0604020202020204" pitchFamily="34" charset="0"/>
                <a:buChar char="+"/>
              </a:pPr>
              <a:r>
                <a:rPr lang="en-US" sz="20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Online</a:t>
              </a:r>
            </a:p>
            <a:p>
              <a:pPr>
                <a:buFont typeface="Arial" panose="020B0604020202020204" pitchFamily="34" charset="0"/>
                <a:buChar char="-"/>
              </a:pPr>
              <a:r>
                <a:rPr lang="el-GR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Κάποιες ευάλωτες στον Χωρικό θόρυβο</a:t>
              </a:r>
            </a:p>
            <a:p>
              <a:pPr>
                <a:buFont typeface="Arial" panose="020B0604020202020204" pitchFamily="34" charset="0"/>
                <a:buChar char="-"/>
              </a:pPr>
              <a:r>
                <a:rPr lang="el-GR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Τεράστια </a:t>
              </a:r>
              <a:r>
                <a:rPr lang="en-US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Dataset</a:t>
              </a:r>
              <a:endParaRPr lang="el-GR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buFont typeface="Arial" panose="020B0604020202020204" pitchFamily="34" charset="0"/>
                <a:buChar char="-"/>
              </a:pPr>
              <a:endParaRPr lang="el-GR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9C69E644-C7D4-985F-1676-245772685CD5}"/>
              </a:ext>
            </a:extLst>
          </p:cNvPr>
          <p:cNvSpPr txBox="1"/>
          <p:nvPr/>
        </p:nvSpPr>
        <p:spPr>
          <a:xfrm>
            <a:off x="8153400" y="1884557"/>
            <a:ext cx="34251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l-GR" sz="2000" b="1" dirty="0">
                <a:latin typeface="Arial" panose="020B0604020202020204" pitchFamily="34" charset="0"/>
                <a:cs typeface="Arial" panose="020B0604020202020204" pitchFamily="34" charset="0"/>
              </a:rPr>
              <a:t>Αποδοτικότερη Βαθιά Μάθηση – Υβριδικές Αρχιτεκτονικές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289BF51-B9E3-2ABE-1833-76F8319B3F5E}"/>
              </a:ext>
            </a:extLst>
          </p:cNvPr>
          <p:cNvSpPr txBox="1"/>
          <p:nvPr/>
        </p:nvSpPr>
        <p:spPr>
          <a:xfrm>
            <a:off x="4383405" y="2192463"/>
            <a:ext cx="34251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End-to-end </a:t>
            </a:r>
            <a:r>
              <a:rPr lang="el-GR" sz="2000" b="1" dirty="0">
                <a:latin typeface="Arial" panose="020B0604020202020204" pitchFamily="34" charset="0"/>
                <a:cs typeface="Arial" panose="020B0604020202020204" pitchFamily="34" charset="0"/>
              </a:rPr>
              <a:t>Βαθιά Μάθηση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0FF151-5BD3-2484-93ED-B9FB1202345B}"/>
              </a:ext>
            </a:extLst>
          </p:cNvPr>
          <p:cNvSpPr txBox="1"/>
          <p:nvPr/>
        </p:nvSpPr>
        <p:spPr>
          <a:xfrm>
            <a:off x="1327683" y="2180316"/>
            <a:ext cx="19966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l-GR" sz="2000" b="1" dirty="0">
                <a:latin typeface="Arial" panose="020B0604020202020204" pitchFamily="34" charset="0"/>
                <a:cs typeface="Arial" panose="020B0604020202020204" pitchFamily="34" charset="0"/>
              </a:rPr>
              <a:t>Μέθοδοι ΨΕΣ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04D4FEF-0DC7-730C-4105-306F35FDFC74}"/>
              </a:ext>
            </a:extLst>
          </p:cNvPr>
          <p:cNvCxnSpPr>
            <a:cxnSpLocks/>
          </p:cNvCxnSpPr>
          <p:nvPr/>
        </p:nvCxnSpPr>
        <p:spPr>
          <a:xfrm>
            <a:off x="3376329" y="1495932"/>
            <a:ext cx="1669346" cy="0"/>
          </a:xfrm>
          <a:prstGeom prst="straightConnector1">
            <a:avLst/>
          </a:prstGeom>
          <a:ln w="762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97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1" grpId="0"/>
      <p:bldP spid="36" grpId="0"/>
      <p:bldP spid="53" grpId="0"/>
      <p:bldP spid="55" grpId="0"/>
      <p:bldP spid="5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A2845-3F1F-1FAE-8595-709731C07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A5ADE53D-BDBF-BCF2-4E40-762859486A3B}"/>
              </a:ext>
            </a:extLst>
          </p:cNvPr>
          <p:cNvSpPr/>
          <p:nvPr/>
        </p:nvSpPr>
        <p:spPr>
          <a:xfrm>
            <a:off x="5569931" y="3254594"/>
            <a:ext cx="1095645" cy="1022859"/>
          </a:xfrm>
          <a:prstGeom prst="flowChartConnector">
            <a:avLst/>
          </a:prstGeom>
          <a:solidFill>
            <a:srgbClr val="9292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A17FB410-84F1-1A7A-46F4-246997DBD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 dirty="0" err="1">
                <a:latin typeface="Arial" panose="020B0604020202020204" pitchFamily="34" charset="0"/>
                <a:cs typeface="Arial" panose="020B0604020202020204" pitchFamily="34" charset="0"/>
              </a:rPr>
              <a:t>Βιοϊατρική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 Τεχνολογία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A724ACB-1FA8-441B-0AD6-80C12273F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l-G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Ευθεία γραμμή σύνδεσης 10">
            <a:extLst>
              <a:ext uri="{FF2B5EF4-FFF2-40B4-BE49-F238E27FC236}">
                <a16:creationId xmlns:a16="http://schemas.microsoft.com/office/drawing/2014/main" id="{52E7834E-05B8-44EC-23F8-73727EE023B1}"/>
              </a:ext>
            </a:extLst>
          </p:cNvPr>
          <p:cNvCxnSpPr/>
          <p:nvPr/>
        </p:nvCxnSpPr>
        <p:spPr>
          <a:xfrm>
            <a:off x="586740" y="1082040"/>
            <a:ext cx="1101852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Τίτλος 1">
            <a:extLst>
              <a:ext uri="{FF2B5EF4-FFF2-40B4-BE49-F238E27FC236}">
                <a16:creationId xmlns:a16="http://schemas.microsoft.com/office/drawing/2014/main" id="{680C9A71-2639-3C8E-13A9-0529F4F41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410" y="60325"/>
            <a:ext cx="10965180" cy="1325563"/>
          </a:xfrm>
        </p:spPr>
        <p:txBody>
          <a:bodyPr>
            <a:normAutofit/>
          </a:bodyPr>
          <a:lstStyle/>
          <a:p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Αξιολόγηση Τεχνολογίας: Ανάλυση </a:t>
            </a:r>
            <a:r>
              <a:rPr lang="en-US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SWOT</a:t>
            </a:r>
            <a:endParaRPr lang="el-GR" sz="36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5" name="Θέση περιεχομένου 2">
            <a:extLst>
              <a:ext uri="{FF2B5EF4-FFF2-40B4-BE49-F238E27FC236}">
                <a16:creationId xmlns:a16="http://schemas.microsoft.com/office/drawing/2014/main" id="{DEADBDFA-C82C-A14D-EEE7-615CB1A1B65A}"/>
              </a:ext>
            </a:extLst>
          </p:cNvPr>
          <p:cNvSpPr txBox="1">
            <a:spLocks/>
          </p:cNvSpPr>
          <p:nvPr/>
        </p:nvSpPr>
        <p:spPr>
          <a:xfrm>
            <a:off x="838200" y="1219200"/>
            <a:ext cx="10515600" cy="5074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8" name="Θέση ημερομηνίας 17">
            <a:extLst>
              <a:ext uri="{FF2B5EF4-FFF2-40B4-BE49-F238E27FC236}">
                <a16:creationId xmlns:a16="http://schemas.microsoft.com/office/drawing/2014/main" id="{AFB9B1B9-F7B6-62B7-EC5B-C0107E25D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F8BE82-5C26-FC09-1347-61726D4EC24B}"/>
              </a:ext>
            </a:extLst>
          </p:cNvPr>
          <p:cNvSpPr/>
          <p:nvPr/>
        </p:nvSpPr>
        <p:spPr>
          <a:xfrm>
            <a:off x="1760039" y="1219200"/>
            <a:ext cx="3015161" cy="2454959"/>
          </a:xfrm>
          <a:prstGeom prst="roundRect">
            <a:avLst/>
          </a:prstGeom>
          <a:solidFill>
            <a:srgbClr val="E0E0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0ED17E5-A50D-987A-2CA6-A9A20B8468D2}"/>
              </a:ext>
            </a:extLst>
          </p:cNvPr>
          <p:cNvSpPr/>
          <p:nvPr/>
        </p:nvSpPr>
        <p:spPr>
          <a:xfrm>
            <a:off x="1760039" y="3811318"/>
            <a:ext cx="3015161" cy="2454959"/>
          </a:xfrm>
          <a:prstGeom prst="roundRect">
            <a:avLst/>
          </a:prstGeom>
          <a:solidFill>
            <a:srgbClr val="E0E0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Θέση περιεχομένου 16">
            <a:extLst>
              <a:ext uri="{FF2B5EF4-FFF2-40B4-BE49-F238E27FC236}">
                <a16:creationId xmlns:a16="http://schemas.microsoft.com/office/drawing/2014/main" id="{978CCB83-914B-E310-E475-B533BB9914C6}"/>
              </a:ext>
            </a:extLst>
          </p:cNvPr>
          <p:cNvSpPr txBox="1">
            <a:spLocks/>
          </p:cNvSpPr>
          <p:nvPr/>
        </p:nvSpPr>
        <p:spPr>
          <a:xfrm>
            <a:off x="5461273" y="3563885"/>
            <a:ext cx="1291206" cy="49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SWOT</a:t>
            </a:r>
            <a:endParaRPr lang="el-GR" sz="2400" b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01CC520-8B9F-4443-3FE9-1A82B4CB0283}"/>
              </a:ext>
            </a:extLst>
          </p:cNvPr>
          <p:cNvCxnSpPr>
            <a:cxnSpLocks/>
            <a:stCxn id="20" idx="1"/>
            <a:endCxn id="8" idx="3"/>
          </p:cNvCxnSpPr>
          <p:nvPr/>
        </p:nvCxnSpPr>
        <p:spPr>
          <a:xfrm flipH="1" flipV="1">
            <a:off x="4775200" y="2446680"/>
            <a:ext cx="955184" cy="957708"/>
          </a:xfrm>
          <a:prstGeom prst="straightConnector1">
            <a:avLst/>
          </a:prstGeom>
          <a:ln w="762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EA6979-F230-7FF2-AAAD-CD31436C1B7D}"/>
              </a:ext>
            </a:extLst>
          </p:cNvPr>
          <p:cNvCxnSpPr>
            <a:cxnSpLocks/>
            <a:stCxn id="20" idx="3"/>
            <a:endCxn id="13" idx="3"/>
          </p:cNvCxnSpPr>
          <p:nvPr/>
        </p:nvCxnSpPr>
        <p:spPr>
          <a:xfrm flipH="1">
            <a:off x="4775200" y="4127659"/>
            <a:ext cx="955184" cy="911139"/>
          </a:xfrm>
          <a:prstGeom prst="straightConnector1">
            <a:avLst/>
          </a:prstGeom>
          <a:ln w="762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B6CAB6E-75D0-72FC-5F2B-A1FD6BB76D4E}"/>
              </a:ext>
            </a:extLst>
          </p:cNvPr>
          <p:cNvSpPr txBox="1"/>
          <p:nvPr/>
        </p:nvSpPr>
        <p:spPr>
          <a:xfrm>
            <a:off x="2269296" y="1254413"/>
            <a:ext cx="19966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Strengths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9474B2-659A-2281-3256-2A89952C1313}"/>
              </a:ext>
            </a:extLst>
          </p:cNvPr>
          <p:cNvSpPr txBox="1"/>
          <p:nvPr/>
        </p:nvSpPr>
        <p:spPr>
          <a:xfrm>
            <a:off x="2269296" y="3861249"/>
            <a:ext cx="19966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Weaknesses</a:t>
            </a:r>
          </a:p>
        </p:txBody>
      </p:sp>
      <p:sp>
        <p:nvSpPr>
          <p:cNvPr id="57" name="Θέση περιεχομένου 16">
            <a:extLst>
              <a:ext uri="{FF2B5EF4-FFF2-40B4-BE49-F238E27FC236}">
                <a16:creationId xmlns:a16="http://schemas.microsoft.com/office/drawing/2014/main" id="{4D6969D2-182E-B743-3948-ACD8A3D7F322}"/>
              </a:ext>
            </a:extLst>
          </p:cNvPr>
          <p:cNvSpPr txBox="1">
            <a:spLocks/>
          </p:cNvSpPr>
          <p:nvPr/>
        </p:nvSpPr>
        <p:spPr>
          <a:xfrm>
            <a:off x="1760038" y="1791682"/>
            <a:ext cx="3015161" cy="1637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100%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Ανέπαφη</a:t>
            </a:r>
          </a:p>
          <a:p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Μηδενικό κόστος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hardware (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κοινή κάμερα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l-G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Θέση περιεχομένου 16">
            <a:extLst>
              <a:ext uri="{FF2B5EF4-FFF2-40B4-BE49-F238E27FC236}">
                <a16:creationId xmlns:a16="http://schemas.microsoft.com/office/drawing/2014/main" id="{7445D590-3D22-2A85-AC63-C2E42DE015E7}"/>
              </a:ext>
            </a:extLst>
          </p:cNvPr>
          <p:cNvSpPr txBox="1">
            <a:spLocks/>
          </p:cNvSpPr>
          <p:nvPr/>
        </p:nvSpPr>
        <p:spPr>
          <a:xfrm>
            <a:off x="1760038" y="4372817"/>
            <a:ext cx="3015161" cy="1921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Ευπάθεια σε περιβαλλοντικό θόρυβο και συμπίεσης βίντεο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Skin Bias (Fitzpatrick V-VI)</a:t>
            </a:r>
            <a:endParaRPr lang="el-G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l-G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307B2CD-C454-2C58-5C62-FDA51E87859E}"/>
              </a:ext>
            </a:extLst>
          </p:cNvPr>
          <p:cNvGrpSpPr/>
          <p:nvPr/>
        </p:nvGrpSpPr>
        <p:grpSpPr>
          <a:xfrm>
            <a:off x="7350431" y="1355760"/>
            <a:ext cx="3492320" cy="5030718"/>
            <a:chOff x="7338297" y="1254413"/>
            <a:chExt cx="3492320" cy="5030718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038ADE02-5106-5FA9-8A86-8DEC896F2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38297" y="1254413"/>
              <a:ext cx="3492320" cy="4389788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AABD8E5-63CE-A4EB-52AE-4448712F233D}"/>
                </a:ext>
              </a:extLst>
            </p:cNvPr>
            <p:cNvSpPr txBox="1"/>
            <p:nvPr/>
          </p:nvSpPr>
          <p:spPr>
            <a:xfrm>
              <a:off x="7338297" y="5638800"/>
              <a:ext cx="34923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Fig 6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dirty="0"/>
                <a:t>Fitzpatrick Skin Prototypes I-VI </a:t>
              </a:r>
              <a:r>
                <a:rPr lang="en-US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[8]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0147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44" grpId="0"/>
      <p:bldP spid="47" grpId="0"/>
      <p:bldP spid="57" grpId="0"/>
      <p:bldP spid="5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22BB6-6A73-2405-ACAC-941A32D20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9877A403-3AFF-838E-5728-9678775B6309}"/>
              </a:ext>
            </a:extLst>
          </p:cNvPr>
          <p:cNvSpPr/>
          <p:nvPr/>
        </p:nvSpPr>
        <p:spPr>
          <a:xfrm>
            <a:off x="5569931" y="3254594"/>
            <a:ext cx="1095645" cy="1022859"/>
          </a:xfrm>
          <a:prstGeom prst="flowChartConnector">
            <a:avLst/>
          </a:prstGeom>
          <a:solidFill>
            <a:srgbClr val="9292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F162C079-379B-D036-E082-C2F874B83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 dirty="0" err="1">
                <a:latin typeface="Arial" panose="020B0604020202020204" pitchFamily="34" charset="0"/>
                <a:cs typeface="Arial" panose="020B0604020202020204" pitchFamily="34" charset="0"/>
              </a:rPr>
              <a:t>Βιοϊατρική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 Τεχνολογία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9D080B96-38CC-6AC0-1B3D-DC803B9E7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l-G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Ευθεία γραμμή σύνδεσης 10">
            <a:extLst>
              <a:ext uri="{FF2B5EF4-FFF2-40B4-BE49-F238E27FC236}">
                <a16:creationId xmlns:a16="http://schemas.microsoft.com/office/drawing/2014/main" id="{39A32853-52F6-776E-4AF1-F008E1FD04C1}"/>
              </a:ext>
            </a:extLst>
          </p:cNvPr>
          <p:cNvCxnSpPr/>
          <p:nvPr/>
        </p:nvCxnSpPr>
        <p:spPr>
          <a:xfrm>
            <a:off x="586740" y="1082040"/>
            <a:ext cx="1101852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Τίτλος 1">
            <a:extLst>
              <a:ext uri="{FF2B5EF4-FFF2-40B4-BE49-F238E27FC236}">
                <a16:creationId xmlns:a16="http://schemas.microsoft.com/office/drawing/2014/main" id="{10EDCFE6-0BD9-0112-D262-B6378A9D2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410" y="60325"/>
            <a:ext cx="10965180" cy="1325563"/>
          </a:xfrm>
        </p:spPr>
        <p:txBody>
          <a:bodyPr>
            <a:normAutofit/>
          </a:bodyPr>
          <a:lstStyle/>
          <a:p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Αξιολόγηση Τεχνολογίας: Ανάλυση </a:t>
            </a:r>
            <a:r>
              <a:rPr lang="en-US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SWOT</a:t>
            </a:r>
            <a:endParaRPr lang="el-GR" sz="36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5" name="Θέση περιεχομένου 2">
            <a:extLst>
              <a:ext uri="{FF2B5EF4-FFF2-40B4-BE49-F238E27FC236}">
                <a16:creationId xmlns:a16="http://schemas.microsoft.com/office/drawing/2014/main" id="{B0D8F09C-054E-489D-BF08-FFBBD734C7C0}"/>
              </a:ext>
            </a:extLst>
          </p:cNvPr>
          <p:cNvSpPr txBox="1">
            <a:spLocks/>
          </p:cNvSpPr>
          <p:nvPr/>
        </p:nvSpPr>
        <p:spPr>
          <a:xfrm>
            <a:off x="838200" y="1219200"/>
            <a:ext cx="10515600" cy="5074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8" name="Θέση ημερομηνίας 17">
            <a:extLst>
              <a:ext uri="{FF2B5EF4-FFF2-40B4-BE49-F238E27FC236}">
                <a16:creationId xmlns:a16="http://schemas.microsoft.com/office/drawing/2014/main" id="{E6A88CA6-2263-BA8A-5DA5-7937E4D35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46F1825-18A4-41E0-75B4-DE449A93E2A0}"/>
              </a:ext>
            </a:extLst>
          </p:cNvPr>
          <p:cNvSpPr/>
          <p:nvPr/>
        </p:nvSpPr>
        <p:spPr>
          <a:xfrm>
            <a:off x="1760039" y="1219200"/>
            <a:ext cx="3015161" cy="2454959"/>
          </a:xfrm>
          <a:prstGeom prst="roundRect">
            <a:avLst/>
          </a:prstGeom>
          <a:solidFill>
            <a:srgbClr val="E0E0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193B3D5-3F25-7233-12EC-2ED60BCC9BC2}"/>
              </a:ext>
            </a:extLst>
          </p:cNvPr>
          <p:cNvSpPr/>
          <p:nvPr/>
        </p:nvSpPr>
        <p:spPr>
          <a:xfrm>
            <a:off x="7416800" y="1219200"/>
            <a:ext cx="3015161" cy="2454959"/>
          </a:xfrm>
          <a:prstGeom prst="roundRect">
            <a:avLst/>
          </a:prstGeom>
          <a:solidFill>
            <a:srgbClr val="E0E0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E835890-A419-855D-169E-8528916619F1}"/>
              </a:ext>
            </a:extLst>
          </p:cNvPr>
          <p:cNvSpPr/>
          <p:nvPr/>
        </p:nvSpPr>
        <p:spPr>
          <a:xfrm>
            <a:off x="1760039" y="3811318"/>
            <a:ext cx="3015161" cy="2454959"/>
          </a:xfrm>
          <a:prstGeom prst="roundRect">
            <a:avLst/>
          </a:prstGeom>
          <a:solidFill>
            <a:srgbClr val="E0E0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CBC4A98-573A-8CC0-45D4-6D0CE30995B7}"/>
              </a:ext>
            </a:extLst>
          </p:cNvPr>
          <p:cNvSpPr/>
          <p:nvPr/>
        </p:nvSpPr>
        <p:spPr>
          <a:xfrm>
            <a:off x="7416799" y="3811317"/>
            <a:ext cx="3015161" cy="2454959"/>
          </a:xfrm>
          <a:prstGeom prst="roundRect">
            <a:avLst/>
          </a:prstGeom>
          <a:solidFill>
            <a:srgbClr val="E0E0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Θέση περιεχομένου 16">
            <a:extLst>
              <a:ext uri="{FF2B5EF4-FFF2-40B4-BE49-F238E27FC236}">
                <a16:creationId xmlns:a16="http://schemas.microsoft.com/office/drawing/2014/main" id="{55DD3C01-B7A8-EC81-B52B-5D80EB3AA124}"/>
              </a:ext>
            </a:extLst>
          </p:cNvPr>
          <p:cNvSpPr txBox="1">
            <a:spLocks/>
          </p:cNvSpPr>
          <p:nvPr/>
        </p:nvSpPr>
        <p:spPr>
          <a:xfrm>
            <a:off x="5461273" y="3563885"/>
            <a:ext cx="1291206" cy="49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SWOT</a:t>
            </a:r>
            <a:endParaRPr lang="el-GR" sz="2400" b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24491FF-78D3-111D-9266-1833817EB3EC}"/>
              </a:ext>
            </a:extLst>
          </p:cNvPr>
          <p:cNvCxnSpPr>
            <a:cxnSpLocks/>
            <a:stCxn id="20" idx="1"/>
            <a:endCxn id="8" idx="3"/>
          </p:cNvCxnSpPr>
          <p:nvPr/>
        </p:nvCxnSpPr>
        <p:spPr>
          <a:xfrm flipH="1" flipV="1">
            <a:off x="4775200" y="2446680"/>
            <a:ext cx="955184" cy="957708"/>
          </a:xfrm>
          <a:prstGeom prst="straightConnector1">
            <a:avLst/>
          </a:prstGeom>
          <a:ln w="762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D80273D-7ABC-D464-D74A-7E0A7300C54F}"/>
              </a:ext>
            </a:extLst>
          </p:cNvPr>
          <p:cNvCxnSpPr>
            <a:cxnSpLocks/>
            <a:stCxn id="20" idx="3"/>
            <a:endCxn id="13" idx="3"/>
          </p:cNvCxnSpPr>
          <p:nvPr/>
        </p:nvCxnSpPr>
        <p:spPr>
          <a:xfrm flipH="1">
            <a:off x="4775200" y="4127659"/>
            <a:ext cx="955184" cy="911139"/>
          </a:xfrm>
          <a:prstGeom prst="straightConnector1">
            <a:avLst/>
          </a:prstGeom>
          <a:ln w="762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18652C4-0CE2-B47A-3C84-CA39BB9E01B5}"/>
              </a:ext>
            </a:extLst>
          </p:cNvPr>
          <p:cNvCxnSpPr>
            <a:cxnSpLocks/>
            <a:stCxn id="20" idx="7"/>
            <a:endCxn id="12" idx="1"/>
          </p:cNvCxnSpPr>
          <p:nvPr/>
        </p:nvCxnSpPr>
        <p:spPr>
          <a:xfrm flipV="1">
            <a:off x="6505123" y="2446680"/>
            <a:ext cx="911677" cy="957708"/>
          </a:xfrm>
          <a:prstGeom prst="straightConnector1">
            <a:avLst/>
          </a:prstGeom>
          <a:ln w="762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ECB443B-EB20-4199-101D-6099B9E2A127}"/>
              </a:ext>
            </a:extLst>
          </p:cNvPr>
          <p:cNvCxnSpPr>
            <a:cxnSpLocks/>
            <a:stCxn id="20" idx="5"/>
            <a:endCxn id="16" idx="1"/>
          </p:cNvCxnSpPr>
          <p:nvPr/>
        </p:nvCxnSpPr>
        <p:spPr>
          <a:xfrm>
            <a:off x="6505123" y="4127659"/>
            <a:ext cx="911676" cy="911138"/>
          </a:xfrm>
          <a:prstGeom prst="straightConnector1">
            <a:avLst/>
          </a:prstGeom>
          <a:ln w="762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44F01B4-B6B2-4201-A5BC-8E92E3F2F92B}"/>
              </a:ext>
            </a:extLst>
          </p:cNvPr>
          <p:cNvSpPr txBox="1"/>
          <p:nvPr/>
        </p:nvSpPr>
        <p:spPr>
          <a:xfrm>
            <a:off x="2269296" y="1254413"/>
            <a:ext cx="19966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Strengths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AABEBE-7F1D-5E5F-952B-7EFA305CEACA}"/>
              </a:ext>
            </a:extLst>
          </p:cNvPr>
          <p:cNvSpPr txBox="1"/>
          <p:nvPr/>
        </p:nvSpPr>
        <p:spPr>
          <a:xfrm>
            <a:off x="7926059" y="1254413"/>
            <a:ext cx="19966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Opportunities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332A74E-71DC-1A76-15EC-7FC7AF01FDC9}"/>
              </a:ext>
            </a:extLst>
          </p:cNvPr>
          <p:cNvSpPr txBox="1"/>
          <p:nvPr/>
        </p:nvSpPr>
        <p:spPr>
          <a:xfrm>
            <a:off x="2269296" y="3861249"/>
            <a:ext cx="19966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Weaknesses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D2BEAB3-F47F-FD42-29C1-C07BF6A379A3}"/>
              </a:ext>
            </a:extLst>
          </p:cNvPr>
          <p:cNvSpPr txBox="1"/>
          <p:nvPr/>
        </p:nvSpPr>
        <p:spPr>
          <a:xfrm>
            <a:off x="7926059" y="3861249"/>
            <a:ext cx="19966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Threats</a:t>
            </a:r>
          </a:p>
        </p:txBody>
      </p:sp>
      <p:sp>
        <p:nvSpPr>
          <p:cNvPr id="57" name="Θέση περιεχομένου 16">
            <a:extLst>
              <a:ext uri="{FF2B5EF4-FFF2-40B4-BE49-F238E27FC236}">
                <a16:creationId xmlns:a16="http://schemas.microsoft.com/office/drawing/2014/main" id="{9727DB0E-DCC6-D575-4978-5C8E0FD974D1}"/>
              </a:ext>
            </a:extLst>
          </p:cNvPr>
          <p:cNvSpPr txBox="1">
            <a:spLocks/>
          </p:cNvSpPr>
          <p:nvPr/>
        </p:nvSpPr>
        <p:spPr>
          <a:xfrm>
            <a:off x="1760038" y="1791682"/>
            <a:ext cx="3015161" cy="1637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100%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Ανέπαφη</a:t>
            </a:r>
          </a:p>
          <a:p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Μηδενικό κόστος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hardware (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κοινή κάμερα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l-G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Θέση περιεχομένου 16">
            <a:extLst>
              <a:ext uri="{FF2B5EF4-FFF2-40B4-BE49-F238E27FC236}">
                <a16:creationId xmlns:a16="http://schemas.microsoft.com/office/drawing/2014/main" id="{8AAB13B0-8BE2-CED8-3B0E-AADF5337D209}"/>
              </a:ext>
            </a:extLst>
          </p:cNvPr>
          <p:cNvSpPr txBox="1">
            <a:spLocks/>
          </p:cNvSpPr>
          <p:nvPr/>
        </p:nvSpPr>
        <p:spPr>
          <a:xfrm>
            <a:off x="7416799" y="1791681"/>
            <a:ext cx="3015161" cy="1661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Telehealth</a:t>
            </a:r>
            <a:endParaRPr lang="el-G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PanopticAI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FDA 510(k)</a:t>
            </a:r>
            <a:r>
              <a:rPr lang="el-GR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 [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l-GR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 as Medical Device (SaMD)</a:t>
            </a:r>
            <a:endParaRPr lang="el-G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Θέση περιεχομένου 16">
            <a:extLst>
              <a:ext uri="{FF2B5EF4-FFF2-40B4-BE49-F238E27FC236}">
                <a16:creationId xmlns:a16="http://schemas.microsoft.com/office/drawing/2014/main" id="{45C58A5F-FB2E-D80C-8049-801BED5A6087}"/>
              </a:ext>
            </a:extLst>
          </p:cNvPr>
          <p:cNvSpPr txBox="1">
            <a:spLocks/>
          </p:cNvSpPr>
          <p:nvPr/>
        </p:nvSpPr>
        <p:spPr>
          <a:xfrm>
            <a:off x="1760038" y="4372817"/>
            <a:ext cx="3015161" cy="1921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Ευπάθεια σε περιβαλλοντικό θόρυβο και συμπίεσης βίντεο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Skin Bias (Fitzpatrick V-VI)</a:t>
            </a:r>
          </a:p>
          <a:p>
            <a:endParaRPr lang="el-G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Θέση περιεχομένου 16">
            <a:extLst>
              <a:ext uri="{FF2B5EF4-FFF2-40B4-BE49-F238E27FC236}">
                <a16:creationId xmlns:a16="http://schemas.microsoft.com/office/drawing/2014/main" id="{0EFC89D2-A3BB-DB85-2F4B-626C72F5D3FA}"/>
              </a:ext>
            </a:extLst>
          </p:cNvPr>
          <p:cNvSpPr txBox="1">
            <a:spLocks/>
          </p:cNvSpPr>
          <p:nvPr/>
        </p:nvSpPr>
        <p:spPr>
          <a:xfrm>
            <a:off x="7416798" y="4372818"/>
            <a:ext cx="3015161" cy="1661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Biometric Data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GDPR</a:t>
            </a:r>
            <a:endParaRPr lang="el-G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Συμμόρφωση στο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ISO 80601-2-61</a:t>
            </a:r>
            <a:r>
              <a:rPr lang="el-GR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l-GR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458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48" grpId="0"/>
      <p:bldP spid="6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E2F1C-4E06-908A-75A0-127DEB3B0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25A009C-BD30-9DCC-D0E8-B796DAB42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1580"/>
            <a:ext cx="10515600" cy="5144769"/>
          </a:xfrm>
        </p:spPr>
        <p:txBody>
          <a:bodyPr>
            <a:normAutofit/>
          </a:bodyPr>
          <a:lstStyle/>
          <a:p>
            <a:r>
              <a:rPr lang="el-GR" sz="2400" b="1" dirty="0">
                <a:latin typeface="Arial" panose="020B0604020202020204" pitchFamily="34" charset="0"/>
                <a:cs typeface="Arial" panose="020B0604020202020204" pitchFamily="34" charset="0"/>
              </a:rPr>
              <a:t>Προϊόν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SDK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παρακολούθησης ζωτικών παραμέτρων και κοπώσεως οδηγού για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MDS.</a:t>
            </a:r>
          </a:p>
          <a:p>
            <a:r>
              <a:rPr lang="el-GR" sz="2400" b="1" dirty="0">
                <a:latin typeface="Arial" panose="020B0604020202020204" pitchFamily="34" charset="0"/>
                <a:cs typeface="Arial" panose="020B0604020202020204" pitchFamily="34" charset="0"/>
              </a:rPr>
              <a:t>Αγορά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B2B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Automotive OEMs &amp; Tier 1 suppliers.</a:t>
            </a:r>
          </a:p>
          <a:p>
            <a:r>
              <a:rPr lang="el-GR" sz="24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Ζήτηση</a:t>
            </a:r>
            <a:r>
              <a:rPr lang="en-US" sz="24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:</a:t>
            </a:r>
          </a:p>
          <a:p>
            <a:pPr marL="548640" lvl="1" indent="-274320">
              <a:buFont typeface="+mj-lt"/>
              <a:buAutoNum type="romanLcPeriod"/>
            </a:pP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EU </a:t>
            </a:r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κανονισμοί οδικής ασφάλειας (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GSR2 </a:t>
            </a:r>
            <a:r>
              <a:rPr lang="el-GR" sz="220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200" dirty="0">
                <a:latin typeface="Arial" panose="020B0604020202020204" pitchFamily="34" charset="0"/>
                <a:cs typeface="Arial" panose="020B0604020202020204" pitchFamily="34" charset="0"/>
              </a:rPr>
              <a:t>Υποχρεωτικά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DMS</a:t>
            </a:r>
            <a:r>
              <a:rPr lang="el-GR" sz="2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.</a:t>
            </a:r>
            <a:endParaRPr lang="en-US" sz="2200" b="1" baseline="300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548640" lvl="1" indent="-274320">
              <a:buFont typeface="+mj-lt"/>
              <a:buAutoNum type="romanLcPeriod"/>
            </a:pPr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Παρακολούθηση Ζωτικών Παραμέτρων → 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12</a:t>
            </a:r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δισ. 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$ </a:t>
            </a:r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έως το 2029</a:t>
            </a:r>
            <a:r>
              <a:rPr lang="el-GR" sz="2200" baseline="300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[12]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l-GR" sz="24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Ανταγωνισμός</a:t>
            </a:r>
            <a:r>
              <a:rPr lang="en-US" sz="24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:</a:t>
            </a:r>
          </a:p>
          <a:p>
            <a:pPr marL="548640" lvl="1" indent="-274320">
              <a:buFont typeface="+mj-lt"/>
              <a:buAutoNum type="romanLcPeriod"/>
            </a:pPr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Έμμεσος: 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Wearables &amp; </a:t>
            </a:r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αισθητήρες 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ECG </a:t>
            </a:r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τιμονιού → κατώτερα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, Telehealth (</a:t>
            </a:r>
            <a:r>
              <a:rPr lang="en-US" sz="2200" dirty="0" err="1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PanopticAI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Faceheart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)</a:t>
            </a:r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.</a:t>
            </a:r>
            <a:endParaRPr lang="en-US" sz="2200" b="1" baseline="300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548640" lvl="1" indent="-274320">
              <a:buFont typeface="+mj-lt"/>
              <a:buAutoNum type="romanLcPeriod"/>
            </a:pPr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Άμεσος: 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FunnyTech21, Smart Eye</a:t>
            </a:r>
          </a:p>
          <a:p>
            <a:r>
              <a:rPr lang="el-GR" sz="24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Μοντέλο</a:t>
            </a:r>
            <a:r>
              <a:rPr lang="en-US" sz="24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:</a:t>
            </a:r>
          </a:p>
          <a:p>
            <a:pPr marL="617220" lvl="1" indent="-342900"/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Έσοδα: 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Licensing </a:t>
            </a:r>
            <a:r>
              <a:rPr lang="el-GR" sz="22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Royalty fee </a:t>
            </a:r>
            <a:r>
              <a:rPr lang="el-GR" sz="2200" dirty="0">
                <a:latin typeface="Arial" panose="020B0604020202020204" pitchFamily="34" charset="0"/>
                <a:cs typeface="Arial" panose="020B0604020202020204" pitchFamily="34" charset="0"/>
              </a:rPr>
              <a:t>ανά παραγόμενο όχημα με το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SDK</a:t>
            </a:r>
            <a:r>
              <a:rPr lang="el-GR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00" b="1" baseline="300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617220" lvl="1" indent="-342900"/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Επενδύσεις: 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R&amp;D </a:t>
            </a:r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λογισμικού (καθόλου 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hardware</a:t>
            </a:r>
            <a:r>
              <a:rPr lang="el-GR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)</a:t>
            </a:r>
            <a:r>
              <a: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6DB67BA4-20F9-D2BB-B8AB-00E6C9DB0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>
                <a:latin typeface="Arial" panose="020B0604020202020204" pitchFamily="34" charset="0"/>
                <a:cs typeface="Arial" panose="020B0604020202020204" pitchFamily="34" charset="0"/>
              </a:rPr>
              <a:t>Βιοϊατρική Τεχνολογία</a:t>
            </a:r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2E7574D6-44DA-5403-0D4F-E14E2EBC5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l-G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Ευθεία γραμμή σύνδεσης 8">
            <a:extLst>
              <a:ext uri="{FF2B5EF4-FFF2-40B4-BE49-F238E27FC236}">
                <a16:creationId xmlns:a16="http://schemas.microsoft.com/office/drawing/2014/main" id="{0F1F5CD0-ED56-85BD-2E10-58B3E43BA839}"/>
              </a:ext>
            </a:extLst>
          </p:cNvPr>
          <p:cNvCxnSpPr/>
          <p:nvPr/>
        </p:nvCxnSpPr>
        <p:spPr>
          <a:xfrm>
            <a:off x="586740" y="1082040"/>
            <a:ext cx="1101852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Τίτλος 1">
            <a:extLst>
              <a:ext uri="{FF2B5EF4-FFF2-40B4-BE49-F238E27FC236}">
                <a16:creationId xmlns:a16="http://schemas.microsoft.com/office/drawing/2014/main" id="{75E63FDD-6626-1423-B856-D159B5E1E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410" y="60325"/>
            <a:ext cx="10965180" cy="1325563"/>
          </a:xfrm>
        </p:spPr>
        <p:txBody>
          <a:bodyPr>
            <a:normAutofit/>
          </a:bodyPr>
          <a:lstStyle/>
          <a:p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Ανάλυση Αγοράς: Αγορά &amp; Μοντέλο</a:t>
            </a:r>
          </a:p>
        </p:txBody>
      </p:sp>
      <p:sp>
        <p:nvSpPr>
          <p:cNvPr id="13" name="Θέση ημερομηνίας 12">
            <a:extLst>
              <a:ext uri="{FF2B5EF4-FFF2-40B4-BE49-F238E27FC236}">
                <a16:creationId xmlns:a16="http://schemas.microsoft.com/office/drawing/2014/main" id="{EAEE485E-4425-AAA8-2D4B-3124E0C97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730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05CC7-AA7B-9F7E-F9AF-B7C6940FA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10F72832-B23F-AE7A-9345-0A5F2E7A8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 dirty="0" err="1">
                <a:latin typeface="Arial" panose="020B0604020202020204" pitchFamily="34" charset="0"/>
                <a:cs typeface="Arial" panose="020B0604020202020204" pitchFamily="34" charset="0"/>
              </a:rPr>
              <a:t>Βιοϊατρική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 Τεχνολογία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2C8EFF3-F5C9-BE2E-21DA-56E7FDD8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l-G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Ευθεία γραμμή σύνδεσης 10">
            <a:extLst>
              <a:ext uri="{FF2B5EF4-FFF2-40B4-BE49-F238E27FC236}">
                <a16:creationId xmlns:a16="http://schemas.microsoft.com/office/drawing/2014/main" id="{67C37C0A-6FE7-866F-492B-93EC069A8376}"/>
              </a:ext>
            </a:extLst>
          </p:cNvPr>
          <p:cNvCxnSpPr/>
          <p:nvPr/>
        </p:nvCxnSpPr>
        <p:spPr>
          <a:xfrm>
            <a:off x="586740" y="1082040"/>
            <a:ext cx="1101852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Τίτλος 1">
            <a:extLst>
              <a:ext uri="{FF2B5EF4-FFF2-40B4-BE49-F238E27FC236}">
                <a16:creationId xmlns:a16="http://schemas.microsoft.com/office/drawing/2014/main" id="{05F23E15-86CB-EA9A-ACDA-61182FEA7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410" y="60325"/>
            <a:ext cx="10965180" cy="1325563"/>
          </a:xfrm>
        </p:spPr>
        <p:txBody>
          <a:bodyPr>
            <a:normAutofit/>
          </a:bodyPr>
          <a:lstStyle/>
          <a:p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Ανάλυση Αγοράς: Επαγγελματικές Προοπτικές</a:t>
            </a:r>
          </a:p>
        </p:txBody>
      </p:sp>
      <p:sp>
        <p:nvSpPr>
          <p:cNvPr id="15" name="Θέση περιεχομένου 2">
            <a:extLst>
              <a:ext uri="{FF2B5EF4-FFF2-40B4-BE49-F238E27FC236}">
                <a16:creationId xmlns:a16="http://schemas.microsoft.com/office/drawing/2014/main" id="{E5A9828F-9783-B44B-2310-10D1D01B9B8F}"/>
              </a:ext>
            </a:extLst>
          </p:cNvPr>
          <p:cNvSpPr txBox="1">
            <a:spLocks/>
          </p:cNvSpPr>
          <p:nvPr/>
        </p:nvSpPr>
        <p:spPr>
          <a:xfrm>
            <a:off x="838200" y="1219201"/>
            <a:ext cx="10515600" cy="781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7" name="Θέση περιεχομένου 16">
            <a:extLst>
              <a:ext uri="{FF2B5EF4-FFF2-40B4-BE49-F238E27FC236}">
                <a16:creationId xmlns:a16="http://schemas.microsoft.com/office/drawing/2014/main" id="{E1E72928-846F-6EE9-A5D4-42E73B302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34441"/>
            <a:ext cx="10582331" cy="685525"/>
          </a:xfrm>
        </p:spPr>
        <p:txBody>
          <a:bodyPr>
            <a:normAutofit/>
          </a:bodyPr>
          <a:lstStyle/>
          <a:p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Ειδικότητες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 Μηχανικοί </a:t>
            </a:r>
            <a:r>
              <a:rPr lang="el-GR" sz="2000" dirty="0" err="1">
                <a:latin typeface="Arial" panose="020B0604020202020204" pitchFamily="34" charset="0"/>
                <a:cs typeface="Arial" panose="020B0604020202020204" pitchFamily="34" charset="0"/>
              </a:rPr>
              <a:t>Βιοϊατρικής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, Ηλεκτρολόγοι Μηχανικοί και Μηχανικοί Υπολογιστών, Μηχανικοί Λογισμικού και Ιατροί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Καρδιολογίας, Νευρολογίας και Ύπνου. </a:t>
            </a:r>
          </a:p>
          <a:p>
            <a:endParaRPr lang="el-GR" sz="2000" dirty="0"/>
          </a:p>
        </p:txBody>
      </p:sp>
      <p:sp>
        <p:nvSpPr>
          <p:cNvPr id="18" name="Θέση ημερομηνίας 17">
            <a:extLst>
              <a:ext uri="{FF2B5EF4-FFF2-40B4-BE49-F238E27FC236}">
                <a16:creationId xmlns:a16="http://schemas.microsoft.com/office/drawing/2014/main" id="{E5B87CCC-E7C2-5F69-04D9-6109AA7C5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err="1"/>
              <a:t>Ηλί</a:t>
            </a:r>
            <a:r>
              <a:rPr lang="en-US" dirty="0"/>
              <a:t>ας Ξανθόπουλος 58545</a:t>
            </a:r>
            <a:endParaRPr lang="el-GR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9B3372D-950A-6349-FD7E-1FBAC19D4821}"/>
              </a:ext>
            </a:extLst>
          </p:cNvPr>
          <p:cNvGrpSpPr>
            <a:grpSpLocks noChangeAspect="1"/>
          </p:cNvGrpSpPr>
          <p:nvPr/>
        </p:nvGrpSpPr>
        <p:grpSpPr>
          <a:xfrm>
            <a:off x="3734708" y="3707742"/>
            <a:ext cx="4722584" cy="721277"/>
            <a:chOff x="2747394" y="3054888"/>
            <a:chExt cx="6697212" cy="102286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36886A0-A06B-06B4-9631-CAD688BC7C25}"/>
                </a:ext>
              </a:extLst>
            </p:cNvPr>
            <p:cNvGrpSpPr/>
            <p:nvPr/>
          </p:nvGrpSpPr>
          <p:grpSpPr>
            <a:xfrm>
              <a:off x="2747394" y="3054888"/>
              <a:ext cx="1291206" cy="1022859"/>
              <a:chOff x="2201681" y="3054889"/>
              <a:chExt cx="1291206" cy="1022859"/>
            </a:xfrm>
          </p:grpSpPr>
          <p:sp>
            <p:nvSpPr>
              <p:cNvPr id="22" name="Flowchart: Connector 21">
                <a:extLst>
                  <a:ext uri="{FF2B5EF4-FFF2-40B4-BE49-F238E27FC236}">
                    <a16:creationId xmlns:a16="http://schemas.microsoft.com/office/drawing/2014/main" id="{A540B322-19CE-D1C9-DE40-CA6E2A4D22A8}"/>
                  </a:ext>
                </a:extLst>
              </p:cNvPr>
              <p:cNvSpPr/>
              <p:nvPr/>
            </p:nvSpPr>
            <p:spPr>
              <a:xfrm>
                <a:off x="2325914" y="3054889"/>
                <a:ext cx="1042741" cy="1022859"/>
              </a:xfrm>
              <a:prstGeom prst="flowChartConnector">
                <a:avLst/>
              </a:prstGeom>
              <a:solidFill>
                <a:srgbClr val="92929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Θέση περιεχομένου 16">
                <a:extLst>
                  <a:ext uri="{FF2B5EF4-FFF2-40B4-BE49-F238E27FC236}">
                    <a16:creationId xmlns:a16="http://schemas.microsoft.com/office/drawing/2014/main" id="{432C412B-FCE9-71CB-E420-F34CF18FE5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1681" y="3376255"/>
                <a:ext cx="1291206" cy="4948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Data</a:t>
                </a:r>
                <a:endParaRPr lang="el-GR" sz="2000" dirty="0"/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4F2CFF9-215D-8E2E-F71D-0072AFDCE9D1}"/>
                </a:ext>
              </a:extLst>
            </p:cNvPr>
            <p:cNvGrpSpPr/>
            <p:nvPr/>
          </p:nvGrpSpPr>
          <p:grpSpPr>
            <a:xfrm>
              <a:off x="5450396" y="3054889"/>
              <a:ext cx="1291206" cy="1022859"/>
              <a:chOff x="5450396" y="3054889"/>
              <a:chExt cx="1291206" cy="1022859"/>
            </a:xfrm>
          </p:grpSpPr>
          <p:sp>
            <p:nvSpPr>
              <p:cNvPr id="20" name="Flowchart: Connector 19">
                <a:extLst>
                  <a:ext uri="{FF2B5EF4-FFF2-40B4-BE49-F238E27FC236}">
                    <a16:creationId xmlns:a16="http://schemas.microsoft.com/office/drawing/2014/main" id="{383A3B92-793B-64EE-227A-9B4A68D92451}"/>
                  </a:ext>
                </a:extLst>
              </p:cNvPr>
              <p:cNvSpPr/>
              <p:nvPr/>
            </p:nvSpPr>
            <p:spPr>
              <a:xfrm>
                <a:off x="5574629" y="3054889"/>
                <a:ext cx="1042741" cy="1022859"/>
              </a:xfrm>
              <a:prstGeom prst="flowChartConnector">
                <a:avLst/>
              </a:prstGeom>
              <a:solidFill>
                <a:srgbClr val="92929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Θέση περιεχομένου 16">
                <a:extLst>
                  <a:ext uri="{FF2B5EF4-FFF2-40B4-BE49-F238E27FC236}">
                    <a16:creationId xmlns:a16="http://schemas.microsoft.com/office/drawing/2014/main" id="{70F31F3F-9201-C2AD-9B47-17CD9FB813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50396" y="3376255"/>
                <a:ext cx="1291206" cy="4948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</a:t>
                </a:r>
                <a:endParaRPr lang="el-GR" sz="2000" dirty="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CC54B45-A675-A2E1-2770-EB5D1F50EEAD}"/>
                </a:ext>
              </a:extLst>
            </p:cNvPr>
            <p:cNvGrpSpPr/>
            <p:nvPr/>
          </p:nvGrpSpPr>
          <p:grpSpPr>
            <a:xfrm>
              <a:off x="8153400" y="3054888"/>
              <a:ext cx="1291206" cy="1022859"/>
              <a:chOff x="8689850" y="3054888"/>
              <a:chExt cx="1291206" cy="1022859"/>
            </a:xfrm>
          </p:grpSpPr>
          <p:sp>
            <p:nvSpPr>
              <p:cNvPr id="8" name="Flowchart: Connector 7">
                <a:extLst>
                  <a:ext uri="{FF2B5EF4-FFF2-40B4-BE49-F238E27FC236}">
                    <a16:creationId xmlns:a16="http://schemas.microsoft.com/office/drawing/2014/main" id="{F34D4195-7D2E-9356-D4D3-BDAA926BE14B}"/>
                  </a:ext>
                </a:extLst>
              </p:cNvPr>
              <p:cNvSpPr/>
              <p:nvPr/>
            </p:nvSpPr>
            <p:spPr>
              <a:xfrm>
                <a:off x="8823345" y="3054888"/>
                <a:ext cx="1042741" cy="1022859"/>
              </a:xfrm>
              <a:prstGeom prst="flowChartConnector">
                <a:avLst/>
              </a:prstGeom>
              <a:solidFill>
                <a:srgbClr val="92929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Θέση περιεχομένου 16">
                <a:extLst>
                  <a:ext uri="{FF2B5EF4-FFF2-40B4-BE49-F238E27FC236}">
                    <a16:creationId xmlns:a16="http://schemas.microsoft.com/office/drawing/2014/main" id="{3E074DE2-BE81-67FA-A9BA-DDCF11AA28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89850" y="3376255"/>
                <a:ext cx="1291206" cy="4948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SDK</a:t>
                </a:r>
                <a:endParaRPr lang="el-GR" sz="2000" dirty="0"/>
              </a:p>
            </p:txBody>
          </p:sp>
        </p:grp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702F1E5-8551-6412-C93C-2C6EE19825A5}"/>
                </a:ext>
              </a:extLst>
            </p:cNvPr>
            <p:cNvCxnSpPr>
              <a:cxnSpLocks/>
              <a:stCxn id="22" idx="6"/>
              <a:endCxn id="20" idx="2"/>
            </p:cNvCxnSpPr>
            <p:nvPr/>
          </p:nvCxnSpPr>
          <p:spPr>
            <a:xfrm>
              <a:off x="3914368" y="3566318"/>
              <a:ext cx="1660261" cy="1"/>
            </a:xfrm>
            <a:prstGeom prst="straightConnector1">
              <a:avLst/>
            </a:prstGeom>
            <a:ln w="76200"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FA6A3B1-22CC-F66A-7DA0-81CDF235EC00}"/>
                </a:ext>
              </a:extLst>
            </p:cNvPr>
            <p:cNvCxnSpPr>
              <a:cxnSpLocks/>
            </p:cNvCxnSpPr>
            <p:nvPr/>
          </p:nvCxnSpPr>
          <p:spPr>
            <a:xfrm>
              <a:off x="6626634" y="3566317"/>
              <a:ext cx="1660261" cy="1"/>
            </a:xfrm>
            <a:prstGeom prst="straightConnector1">
              <a:avLst/>
            </a:prstGeom>
            <a:ln w="76200"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5809A4F-735E-F69E-EC05-1F5E9C1FF9AA}"/>
              </a:ext>
            </a:extLst>
          </p:cNvPr>
          <p:cNvGrpSpPr/>
          <p:nvPr/>
        </p:nvGrpSpPr>
        <p:grpSpPr>
          <a:xfrm>
            <a:off x="738996" y="2029117"/>
            <a:ext cx="2780472" cy="1813444"/>
            <a:chOff x="797437" y="2301601"/>
            <a:chExt cx="2780472" cy="181344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3A986FC-8F71-49CE-8A52-BE7BB3B4B0C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4709" y="2301601"/>
              <a:ext cx="2743200" cy="1787800"/>
              <a:chOff x="329784" y="3689515"/>
              <a:chExt cx="3031671" cy="2454959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0FDE53BB-6B62-C318-FDEF-C0CA143B89A8}"/>
                  </a:ext>
                </a:extLst>
              </p:cNvPr>
              <p:cNvSpPr/>
              <p:nvPr/>
            </p:nvSpPr>
            <p:spPr>
              <a:xfrm>
                <a:off x="338040" y="3689515"/>
                <a:ext cx="3015161" cy="2454959"/>
              </a:xfrm>
              <a:prstGeom prst="roundRect">
                <a:avLst/>
              </a:prstGeom>
              <a:solidFill>
                <a:srgbClr val="E0E0E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8529105-DDDD-B702-0AF3-92740CCDA3A9}"/>
                  </a:ext>
                </a:extLst>
              </p:cNvPr>
              <p:cNvSpPr txBox="1"/>
              <p:nvPr/>
            </p:nvSpPr>
            <p:spPr>
              <a:xfrm>
                <a:off x="329784" y="3724729"/>
                <a:ext cx="3031671" cy="887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Biomedical Signal Processing Engineers</a:t>
                </a:r>
              </a:p>
            </p:txBody>
          </p:sp>
        </p:grpSp>
        <p:sp>
          <p:nvSpPr>
            <p:cNvPr id="28" name="Θέση περιεχομένου 16">
              <a:extLst>
                <a:ext uri="{FF2B5EF4-FFF2-40B4-BE49-F238E27FC236}">
                  <a16:creationId xmlns:a16="http://schemas.microsoft.com/office/drawing/2014/main" id="{F79EFE9E-871F-F2DB-5E95-59B0D260EE64}"/>
                </a:ext>
              </a:extLst>
            </p:cNvPr>
            <p:cNvSpPr txBox="1">
              <a:spLocks/>
            </p:cNvSpPr>
            <p:nvPr/>
          </p:nvSpPr>
          <p:spPr>
            <a:xfrm>
              <a:off x="797437" y="2909095"/>
              <a:ext cx="2743199" cy="120595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800" dirty="0">
                  <a:latin typeface="Arial" panose="020B0604020202020204" pitchFamily="34" charset="0"/>
                  <a:cs typeface="Arial" panose="020B0604020202020204" pitchFamily="34" charset="0"/>
                </a:rPr>
                <a:t>Δειγματοληψία και επεξεργασία φυσιολογικών σημάτων</a:t>
              </a:r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AC590B3-EAA7-E05F-B2E5-6C714D228E68}"/>
              </a:ext>
            </a:extLst>
          </p:cNvPr>
          <p:cNvCxnSpPr>
            <a:cxnSpLocks/>
            <a:stCxn id="28" idx="3"/>
            <a:endCxn id="22" idx="1"/>
          </p:cNvCxnSpPr>
          <p:nvPr/>
        </p:nvCxnSpPr>
        <p:spPr>
          <a:xfrm>
            <a:off x="3482195" y="3239586"/>
            <a:ext cx="447799" cy="5737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388EB2-C066-D4E7-344C-BD1A8640D539}"/>
              </a:ext>
            </a:extLst>
          </p:cNvPr>
          <p:cNvGrpSpPr/>
          <p:nvPr/>
        </p:nvGrpSpPr>
        <p:grpSpPr>
          <a:xfrm>
            <a:off x="890418" y="4398767"/>
            <a:ext cx="2780472" cy="1813444"/>
            <a:chOff x="797437" y="2301601"/>
            <a:chExt cx="2780472" cy="1813444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AD718CB0-AF33-FA72-FA6A-283D91897B9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4709" y="2301601"/>
              <a:ext cx="2743200" cy="1787800"/>
              <a:chOff x="329784" y="3689515"/>
              <a:chExt cx="3031671" cy="2454959"/>
            </a:xfrm>
          </p:grpSpPr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97966224-8FD3-D6CA-7195-75DA982DE80E}"/>
                  </a:ext>
                </a:extLst>
              </p:cNvPr>
              <p:cNvSpPr/>
              <p:nvPr/>
            </p:nvSpPr>
            <p:spPr>
              <a:xfrm>
                <a:off x="338040" y="3689515"/>
                <a:ext cx="3015161" cy="2454959"/>
              </a:xfrm>
              <a:prstGeom prst="roundRect">
                <a:avLst/>
              </a:prstGeom>
              <a:solidFill>
                <a:srgbClr val="E0E0E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3027B14-DC9E-10B7-9A00-9392B9EA56CB}"/>
                  </a:ext>
                </a:extLst>
              </p:cNvPr>
              <p:cNvSpPr txBox="1"/>
              <p:nvPr/>
            </p:nvSpPr>
            <p:spPr>
              <a:xfrm>
                <a:off x="329784" y="3724729"/>
                <a:ext cx="3031671" cy="5071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Data Scientists</a:t>
                </a:r>
              </a:p>
            </p:txBody>
          </p:sp>
        </p:grpSp>
        <p:sp>
          <p:nvSpPr>
            <p:cNvPr id="44" name="Θέση περιεχομένου 16">
              <a:extLst>
                <a:ext uri="{FF2B5EF4-FFF2-40B4-BE49-F238E27FC236}">
                  <a16:creationId xmlns:a16="http://schemas.microsoft.com/office/drawing/2014/main" id="{27244F8D-6090-5C2D-8B4F-338EDAA970E5}"/>
                </a:ext>
              </a:extLst>
            </p:cNvPr>
            <p:cNvSpPr txBox="1">
              <a:spLocks/>
            </p:cNvSpPr>
            <p:nvPr/>
          </p:nvSpPr>
          <p:spPr>
            <a:xfrm>
              <a:off x="797437" y="2909095"/>
              <a:ext cx="2743199" cy="120595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800" dirty="0">
                  <a:latin typeface="Arial" panose="020B0604020202020204" pitchFamily="34" charset="0"/>
                  <a:cs typeface="Arial" panose="020B0604020202020204" pitchFamily="34" charset="0"/>
                </a:rPr>
                <a:t>Σχεδιασμός βάσης δεδομένων και ανάλυση/επεξεργασία δεδομένων</a:t>
              </a:r>
            </a:p>
          </p:txBody>
        </p: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6BB8D87-9B62-B597-A571-086A2725677F}"/>
              </a:ext>
            </a:extLst>
          </p:cNvPr>
          <p:cNvCxnSpPr>
            <a:cxnSpLocks/>
            <a:stCxn id="46" idx="3"/>
            <a:endCxn id="22" idx="3"/>
          </p:cNvCxnSpPr>
          <p:nvPr/>
        </p:nvCxnSpPr>
        <p:spPr>
          <a:xfrm flipV="1">
            <a:off x="3670890" y="4323390"/>
            <a:ext cx="259104" cy="2856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49BE1B4-DBDD-EB18-52EA-192CE8E8DC75}"/>
              </a:ext>
            </a:extLst>
          </p:cNvPr>
          <p:cNvGrpSpPr>
            <a:grpSpLocks/>
          </p:cNvGrpSpPr>
          <p:nvPr/>
        </p:nvGrpSpPr>
        <p:grpSpPr>
          <a:xfrm>
            <a:off x="4705764" y="2226980"/>
            <a:ext cx="2780472" cy="938550"/>
            <a:chOff x="797437" y="2301601"/>
            <a:chExt cx="2780472" cy="1813444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3B04410-2EC9-13E8-F4FE-9F27EFBC3B2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4709" y="2301601"/>
              <a:ext cx="2743200" cy="1787800"/>
              <a:chOff x="329784" y="3689514"/>
              <a:chExt cx="3031671" cy="2454959"/>
            </a:xfrm>
          </p:grpSpPr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D2E831C9-6DB7-781D-A5C3-3617224DB499}"/>
                  </a:ext>
                </a:extLst>
              </p:cNvPr>
              <p:cNvSpPr/>
              <p:nvPr/>
            </p:nvSpPr>
            <p:spPr>
              <a:xfrm>
                <a:off x="338040" y="3689514"/>
                <a:ext cx="3015161" cy="2454959"/>
              </a:xfrm>
              <a:prstGeom prst="roundRect">
                <a:avLst/>
              </a:prstGeom>
              <a:solidFill>
                <a:srgbClr val="E0E0E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58717FF-BACC-274E-573A-1AF23B9DE7A2}"/>
                  </a:ext>
                </a:extLst>
              </p:cNvPr>
              <p:cNvSpPr txBox="1"/>
              <p:nvPr/>
            </p:nvSpPr>
            <p:spPr>
              <a:xfrm>
                <a:off x="329784" y="3724729"/>
                <a:ext cx="3031671" cy="5071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Medical Advisors</a:t>
                </a:r>
              </a:p>
            </p:txBody>
          </p:sp>
        </p:grpSp>
        <p:sp>
          <p:nvSpPr>
            <p:cNvPr id="56" name="Θέση περιεχομένου 16">
              <a:extLst>
                <a:ext uri="{FF2B5EF4-FFF2-40B4-BE49-F238E27FC236}">
                  <a16:creationId xmlns:a16="http://schemas.microsoft.com/office/drawing/2014/main" id="{A3ADF7D5-FAB6-7455-D062-7A5E1CD41BAB}"/>
                </a:ext>
              </a:extLst>
            </p:cNvPr>
            <p:cNvSpPr txBox="1">
              <a:spLocks/>
            </p:cNvSpPr>
            <p:nvPr/>
          </p:nvSpPr>
          <p:spPr>
            <a:xfrm>
              <a:off x="797437" y="3093080"/>
              <a:ext cx="2743199" cy="102196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800" dirty="0">
                  <a:latin typeface="Arial" panose="020B0604020202020204" pitchFamily="34" charset="0"/>
                  <a:cs typeface="Arial" panose="020B0604020202020204" pitchFamily="34" charset="0"/>
                </a:rPr>
                <a:t>Domain Expertise</a:t>
              </a:r>
              <a:endParaRPr lang="el-GR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025" name="Straight Connector 1024">
            <a:extLst>
              <a:ext uri="{FF2B5EF4-FFF2-40B4-BE49-F238E27FC236}">
                <a16:creationId xmlns:a16="http://schemas.microsoft.com/office/drawing/2014/main" id="{A74A3DC2-7A40-4C49-5577-40AB4AD7D14C}"/>
              </a:ext>
            </a:extLst>
          </p:cNvPr>
          <p:cNvCxnSpPr>
            <a:cxnSpLocks/>
            <a:stCxn id="22" idx="7"/>
            <a:endCxn id="56" idx="1"/>
          </p:cNvCxnSpPr>
          <p:nvPr/>
        </p:nvCxnSpPr>
        <p:spPr>
          <a:xfrm flipV="1">
            <a:off x="4449926" y="2901071"/>
            <a:ext cx="255838" cy="9122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Connector 1031">
            <a:extLst>
              <a:ext uri="{FF2B5EF4-FFF2-40B4-BE49-F238E27FC236}">
                <a16:creationId xmlns:a16="http://schemas.microsoft.com/office/drawing/2014/main" id="{E58DA3CC-F2DB-7424-5862-75227F16D14F}"/>
              </a:ext>
            </a:extLst>
          </p:cNvPr>
          <p:cNvCxnSpPr>
            <a:cxnSpLocks/>
            <a:stCxn id="8" idx="0"/>
            <a:endCxn id="57" idx="3"/>
          </p:cNvCxnSpPr>
          <p:nvPr/>
        </p:nvCxnSpPr>
        <p:spPr>
          <a:xfrm flipH="1" flipV="1">
            <a:off x="7478767" y="2689619"/>
            <a:ext cx="529805" cy="10181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867AF788-45E2-263B-0569-6A2D5F9A27B6}"/>
              </a:ext>
            </a:extLst>
          </p:cNvPr>
          <p:cNvGrpSpPr/>
          <p:nvPr/>
        </p:nvGrpSpPr>
        <p:grpSpPr>
          <a:xfrm>
            <a:off x="8824788" y="2335827"/>
            <a:ext cx="2780472" cy="1813444"/>
            <a:chOff x="797437" y="2301601"/>
            <a:chExt cx="2780472" cy="1813444"/>
          </a:xfrm>
        </p:grpSpPr>
        <p:grpSp>
          <p:nvGrpSpPr>
            <p:cNvPr id="1038" name="Group 1037">
              <a:extLst>
                <a:ext uri="{FF2B5EF4-FFF2-40B4-BE49-F238E27FC236}">
                  <a16:creationId xmlns:a16="http://schemas.microsoft.com/office/drawing/2014/main" id="{C71FF2E0-326B-E699-BA07-CCE30C3D26E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4709" y="2301601"/>
              <a:ext cx="2743200" cy="1787800"/>
              <a:chOff x="329784" y="3689515"/>
              <a:chExt cx="3031671" cy="2454959"/>
            </a:xfrm>
          </p:grpSpPr>
          <p:sp>
            <p:nvSpPr>
              <p:cNvPr id="1040" name="Rectangle: Rounded Corners 1039">
                <a:extLst>
                  <a:ext uri="{FF2B5EF4-FFF2-40B4-BE49-F238E27FC236}">
                    <a16:creationId xmlns:a16="http://schemas.microsoft.com/office/drawing/2014/main" id="{BF86BFFC-5A6C-B048-9A78-2973C400247B}"/>
                  </a:ext>
                </a:extLst>
              </p:cNvPr>
              <p:cNvSpPr/>
              <p:nvPr/>
            </p:nvSpPr>
            <p:spPr>
              <a:xfrm>
                <a:off x="338040" y="3689515"/>
                <a:ext cx="3015161" cy="2454959"/>
              </a:xfrm>
              <a:prstGeom prst="roundRect">
                <a:avLst/>
              </a:prstGeom>
              <a:solidFill>
                <a:srgbClr val="E0E0E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41" name="TextBox 1040">
                <a:extLst>
                  <a:ext uri="{FF2B5EF4-FFF2-40B4-BE49-F238E27FC236}">
                    <a16:creationId xmlns:a16="http://schemas.microsoft.com/office/drawing/2014/main" id="{7B978444-4D40-F203-C868-33C5661FD230}"/>
                  </a:ext>
                </a:extLst>
              </p:cNvPr>
              <p:cNvSpPr txBox="1"/>
              <p:nvPr/>
            </p:nvSpPr>
            <p:spPr>
              <a:xfrm>
                <a:off x="329784" y="3724729"/>
                <a:ext cx="3031671" cy="887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Embedded Software Engineers</a:t>
                </a:r>
              </a:p>
            </p:txBody>
          </p:sp>
        </p:grpSp>
        <p:sp>
          <p:nvSpPr>
            <p:cNvPr id="1039" name="Θέση περιεχομένου 16">
              <a:extLst>
                <a:ext uri="{FF2B5EF4-FFF2-40B4-BE49-F238E27FC236}">
                  <a16:creationId xmlns:a16="http://schemas.microsoft.com/office/drawing/2014/main" id="{FE5B3932-7940-DCA6-AF6D-F068ABC73AEC}"/>
                </a:ext>
              </a:extLst>
            </p:cNvPr>
            <p:cNvSpPr txBox="1">
              <a:spLocks/>
            </p:cNvSpPr>
            <p:nvPr/>
          </p:nvSpPr>
          <p:spPr>
            <a:xfrm>
              <a:off x="797437" y="2909095"/>
              <a:ext cx="2743199" cy="120595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800" dirty="0">
                  <a:latin typeface="Arial" panose="020B0604020202020204" pitchFamily="34" charset="0"/>
                  <a:cs typeface="Arial" panose="020B0604020202020204" pitchFamily="34" charset="0"/>
                </a:rPr>
                <a:t>Βελτιστοποίηση αλγορίθμων (</a:t>
              </a:r>
              <a:r>
                <a:rPr lang="en-US" sz="1800" dirty="0">
                  <a:latin typeface="Arial" panose="020B0604020202020204" pitchFamily="34" charset="0"/>
                  <a:cs typeface="Arial" panose="020B0604020202020204" pitchFamily="34" charset="0"/>
                </a:rPr>
                <a:t>Edge AI</a:t>
              </a:r>
              <a:r>
                <a:rPr lang="el-GR" sz="18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r>
                <a:rPr lang="en-US" sz="1800" dirty="0">
                  <a:latin typeface="Arial" panose="020B0604020202020204" pitchFamily="34" charset="0"/>
                  <a:cs typeface="Arial" panose="020B0604020202020204" pitchFamily="34" charset="0"/>
                </a:rPr>
                <a:t>SDK Packaging</a:t>
              </a:r>
              <a:endParaRPr lang="el-GR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FDF05C0D-AD71-0C22-0F50-D39D97BB0664}"/>
              </a:ext>
            </a:extLst>
          </p:cNvPr>
          <p:cNvCxnSpPr>
            <a:cxnSpLocks/>
            <a:stCxn id="1039" idx="1"/>
            <a:endCxn id="8" idx="6"/>
          </p:cNvCxnSpPr>
          <p:nvPr/>
        </p:nvCxnSpPr>
        <p:spPr>
          <a:xfrm flipH="1">
            <a:off x="8376220" y="3546296"/>
            <a:ext cx="448568" cy="5220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77191515-ACD9-1D4A-C054-A33823828C43}"/>
              </a:ext>
            </a:extLst>
          </p:cNvPr>
          <p:cNvGrpSpPr/>
          <p:nvPr/>
        </p:nvGrpSpPr>
        <p:grpSpPr>
          <a:xfrm>
            <a:off x="6618336" y="4527670"/>
            <a:ext cx="2780472" cy="1909570"/>
            <a:chOff x="797437" y="2301601"/>
            <a:chExt cx="2780472" cy="1909570"/>
          </a:xfrm>
        </p:grpSpPr>
        <p:grpSp>
          <p:nvGrpSpPr>
            <p:cNvPr id="1049" name="Group 1048">
              <a:extLst>
                <a:ext uri="{FF2B5EF4-FFF2-40B4-BE49-F238E27FC236}">
                  <a16:creationId xmlns:a16="http://schemas.microsoft.com/office/drawing/2014/main" id="{4F5FB4F6-C026-BB54-3BC5-DFAD5576DEE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4709" y="2301601"/>
              <a:ext cx="2743200" cy="1787800"/>
              <a:chOff x="329784" y="3689515"/>
              <a:chExt cx="3031671" cy="2454959"/>
            </a:xfrm>
          </p:grpSpPr>
          <p:sp>
            <p:nvSpPr>
              <p:cNvPr id="1051" name="Rectangle: Rounded Corners 1050">
                <a:extLst>
                  <a:ext uri="{FF2B5EF4-FFF2-40B4-BE49-F238E27FC236}">
                    <a16:creationId xmlns:a16="http://schemas.microsoft.com/office/drawing/2014/main" id="{A59596E6-726E-5B37-BC0B-DFB11192F9A7}"/>
                  </a:ext>
                </a:extLst>
              </p:cNvPr>
              <p:cNvSpPr/>
              <p:nvPr/>
            </p:nvSpPr>
            <p:spPr>
              <a:xfrm>
                <a:off x="338040" y="3689515"/>
                <a:ext cx="3015161" cy="2454959"/>
              </a:xfrm>
              <a:prstGeom prst="roundRect">
                <a:avLst/>
              </a:prstGeom>
              <a:solidFill>
                <a:srgbClr val="E0E0E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52" name="TextBox 1051">
                <a:extLst>
                  <a:ext uri="{FF2B5EF4-FFF2-40B4-BE49-F238E27FC236}">
                    <a16:creationId xmlns:a16="http://schemas.microsoft.com/office/drawing/2014/main" id="{0573D364-0DF2-6FEB-CECF-AF07CDD734C2}"/>
                  </a:ext>
                </a:extLst>
              </p:cNvPr>
              <p:cNvSpPr txBox="1"/>
              <p:nvPr/>
            </p:nvSpPr>
            <p:spPr>
              <a:xfrm>
                <a:off x="329784" y="3724729"/>
                <a:ext cx="3031671" cy="887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Machine Learning Engineers</a:t>
                </a:r>
              </a:p>
            </p:txBody>
          </p:sp>
        </p:grpSp>
        <p:sp>
          <p:nvSpPr>
            <p:cNvPr id="1050" name="Θέση περιεχομένου 16">
              <a:extLst>
                <a:ext uri="{FF2B5EF4-FFF2-40B4-BE49-F238E27FC236}">
                  <a16:creationId xmlns:a16="http://schemas.microsoft.com/office/drawing/2014/main" id="{20DC9A13-21DD-8D5C-FA4A-6229705F12D8}"/>
                </a:ext>
              </a:extLst>
            </p:cNvPr>
            <p:cNvSpPr txBox="1">
              <a:spLocks/>
            </p:cNvSpPr>
            <p:nvPr/>
          </p:nvSpPr>
          <p:spPr>
            <a:xfrm>
              <a:off x="797437" y="2909094"/>
              <a:ext cx="2743199" cy="130207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800" dirty="0">
                  <a:latin typeface="Arial" panose="020B0604020202020204" pitchFamily="34" charset="0"/>
                  <a:cs typeface="Arial" panose="020B0604020202020204" pitchFamily="34" charset="0"/>
                </a:rPr>
                <a:t>Εξειδίκευση στην Όραση Υπολογιστών</a:t>
              </a:r>
            </a:p>
            <a:p>
              <a:r>
                <a:rPr lang="el-GR" sz="1800" dirty="0">
                  <a:latin typeface="Arial" panose="020B0604020202020204" pitchFamily="34" charset="0"/>
                  <a:cs typeface="Arial" panose="020B0604020202020204" pitchFamily="34" charset="0"/>
                </a:rPr>
                <a:t>Σχεδιασμός και εκπαίδευση μοντέλου</a:t>
              </a:r>
            </a:p>
          </p:txBody>
        </p:sp>
      </p:grp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1983CDC1-CD20-40A4-DA9F-08B8F8CB7345}"/>
              </a:ext>
            </a:extLst>
          </p:cNvPr>
          <p:cNvCxnSpPr>
            <a:cxnSpLocks/>
            <a:stCxn id="20" idx="5"/>
            <a:endCxn id="1052" idx="1"/>
          </p:cNvCxnSpPr>
          <p:nvPr/>
        </p:nvCxnSpPr>
        <p:spPr>
          <a:xfrm>
            <a:off x="6355966" y="4323391"/>
            <a:ext cx="299642" cy="553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017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14705-7AE5-E638-474D-34A36D85D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C85DBE5-C8E4-6B66-EA62-29D0A7320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>
                <a:latin typeface="Arial" panose="020B0604020202020204" pitchFamily="34" charset="0"/>
                <a:cs typeface="Arial" panose="020B0604020202020204" pitchFamily="34" charset="0"/>
              </a:rPr>
              <a:t>Βιοϊατρική Τεχνολογία</a:t>
            </a:r>
            <a:endParaRPr lang="el-G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F577F505-88CD-0D7A-4BA3-6A148FE52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l-G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Ευθεία γραμμή σύνδεσης 15">
            <a:extLst>
              <a:ext uri="{FF2B5EF4-FFF2-40B4-BE49-F238E27FC236}">
                <a16:creationId xmlns:a16="http://schemas.microsoft.com/office/drawing/2014/main" id="{778C1536-DA7B-0BCC-66C7-A39B7B1D8456}"/>
              </a:ext>
            </a:extLst>
          </p:cNvPr>
          <p:cNvCxnSpPr/>
          <p:nvPr/>
        </p:nvCxnSpPr>
        <p:spPr>
          <a:xfrm>
            <a:off x="586740" y="1082040"/>
            <a:ext cx="1101852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Τίτλος 1">
            <a:extLst>
              <a:ext uri="{FF2B5EF4-FFF2-40B4-BE49-F238E27FC236}">
                <a16:creationId xmlns:a16="http://schemas.microsoft.com/office/drawing/2014/main" id="{256632BE-08F1-B259-BCF6-7599BB1D4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410" y="60325"/>
            <a:ext cx="10965180" cy="1325563"/>
          </a:xfrm>
        </p:spPr>
        <p:txBody>
          <a:bodyPr>
            <a:normAutofit/>
          </a:bodyPr>
          <a:lstStyle/>
          <a:p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Σχεδιασμός Προϊόντος: Τελικό Προϊόν</a:t>
            </a:r>
          </a:p>
        </p:txBody>
      </p:sp>
      <p:sp>
        <p:nvSpPr>
          <p:cNvPr id="20" name="Θέση ημερομηνίας 19">
            <a:extLst>
              <a:ext uri="{FF2B5EF4-FFF2-40B4-BE49-F238E27FC236}">
                <a16:creationId xmlns:a16="http://schemas.microsoft.com/office/drawing/2014/main" id="{B4CAF511-0103-8F32-9A65-CE0695135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3A1A691-EE0D-B69E-454E-4DF3199E7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85" y="1901373"/>
            <a:ext cx="11132629" cy="3062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993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Θέση υποσέλιδου 6">
            <a:extLst>
              <a:ext uri="{FF2B5EF4-FFF2-40B4-BE49-F238E27FC236}">
                <a16:creationId xmlns:a16="http://schemas.microsoft.com/office/drawing/2014/main" id="{8F0DCC09-F5BE-6B2B-B290-9947BEBE2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 dirty="0" err="1">
                <a:latin typeface="Arial" panose="020B0604020202020204" pitchFamily="34" charset="0"/>
                <a:cs typeface="Arial" panose="020B0604020202020204" pitchFamily="34" charset="0"/>
              </a:rPr>
              <a:t>Βιοϊατρική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 Τεχνολογία</a:t>
            </a:r>
          </a:p>
        </p:txBody>
      </p: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9A26E927-A1A4-19DE-C6D5-024E12ADE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l-G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Ευθεία γραμμή σύνδεσης 16">
            <a:extLst>
              <a:ext uri="{FF2B5EF4-FFF2-40B4-BE49-F238E27FC236}">
                <a16:creationId xmlns:a16="http://schemas.microsoft.com/office/drawing/2014/main" id="{D50365B0-6F17-F01D-0B7F-3C71680FAD7C}"/>
              </a:ext>
            </a:extLst>
          </p:cNvPr>
          <p:cNvCxnSpPr/>
          <p:nvPr/>
        </p:nvCxnSpPr>
        <p:spPr>
          <a:xfrm>
            <a:off x="586740" y="1082040"/>
            <a:ext cx="1101852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Τίτλος 1">
            <a:extLst>
              <a:ext uri="{FF2B5EF4-FFF2-40B4-BE49-F238E27FC236}">
                <a16:creationId xmlns:a16="http://schemas.microsoft.com/office/drawing/2014/main" id="{79BEBF1B-8A38-0376-65E6-87768451A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410" y="60325"/>
            <a:ext cx="10965180" cy="1325563"/>
          </a:xfrm>
        </p:spPr>
        <p:txBody>
          <a:bodyPr>
            <a:normAutofit/>
          </a:bodyPr>
          <a:lstStyle/>
          <a:p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Σχεδιασμός Προϊόντος: Κριτήρια Σχεδιασμού</a:t>
            </a:r>
          </a:p>
        </p:txBody>
      </p:sp>
      <p:sp>
        <p:nvSpPr>
          <p:cNvPr id="21" name="Θέση ημερομηνίας 20">
            <a:extLst>
              <a:ext uri="{FF2B5EF4-FFF2-40B4-BE49-F238E27FC236}">
                <a16:creationId xmlns:a16="http://schemas.microsoft.com/office/drawing/2014/main" id="{988889D9-1113-56A2-905C-F57946FA0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CEB6D36-B94B-311F-6B71-DD470AD7F056}"/>
              </a:ext>
            </a:extLst>
          </p:cNvPr>
          <p:cNvGrpSpPr/>
          <p:nvPr/>
        </p:nvGrpSpPr>
        <p:grpSpPr>
          <a:xfrm>
            <a:off x="657525" y="1362029"/>
            <a:ext cx="5262012" cy="4814182"/>
            <a:chOff x="657525" y="1362029"/>
            <a:chExt cx="4114799" cy="439588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39E1239-AC71-2A6C-D116-4AEBE0F35003}"/>
                </a:ext>
              </a:extLst>
            </p:cNvPr>
            <p:cNvGrpSpPr/>
            <p:nvPr/>
          </p:nvGrpSpPr>
          <p:grpSpPr>
            <a:xfrm>
              <a:off x="657525" y="1362029"/>
              <a:ext cx="4114799" cy="4395884"/>
              <a:chOff x="613410" y="1884812"/>
              <a:chExt cx="3425190" cy="4395884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ACDAD51A-6276-5B52-DA1A-BF4187751C64}"/>
                  </a:ext>
                </a:extLst>
              </p:cNvPr>
              <p:cNvSpPr/>
              <p:nvPr/>
            </p:nvSpPr>
            <p:spPr>
              <a:xfrm>
                <a:off x="613410" y="1884812"/>
                <a:ext cx="3425190" cy="4395884"/>
              </a:xfrm>
              <a:prstGeom prst="roundRect">
                <a:avLst/>
              </a:prstGeom>
              <a:solidFill>
                <a:srgbClr val="E0E0E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Θέση περιεχομένου 16">
                <a:extLst>
                  <a:ext uri="{FF2B5EF4-FFF2-40B4-BE49-F238E27FC236}">
                    <a16:creationId xmlns:a16="http://schemas.microsoft.com/office/drawing/2014/main" id="{EF37DDF2-6C96-C533-3F3A-EF552E1F55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3410" y="2489840"/>
                <a:ext cx="3425190" cy="379085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Εύρος: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l-G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30-250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bpm</a:t>
                </a:r>
              </a:p>
              <a:p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Ευαισθησία: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l-G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1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bpm</a:t>
                </a:r>
              </a:p>
              <a:p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Ακρίβεια:</a:t>
                </a:r>
                <a:endParaRPr lang="en-US" sz="2200" b="1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  <a:p>
                <a:pPr marL="548640" lvl="1" indent="-274320">
                  <a:buFont typeface="+mj-lt"/>
                  <a:buAutoNum type="romanLcPeriod"/>
                </a:pPr>
                <a:r>
                  <a:rPr lang="en-US" sz="22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HR: 3 bpm</a:t>
                </a:r>
                <a:endParaRPr lang="en-US" sz="2200" b="1" baseline="300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  <a:p>
                <a:pPr marL="548640" lvl="1" indent="-274320">
                  <a:buFont typeface="+mj-lt"/>
                  <a:buAutoNum type="romanLcPeriod"/>
                </a:pPr>
                <a:r>
                  <a:rPr lang="en-US" sz="22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SpO2: 2% RMSE</a:t>
                </a:r>
                <a:endParaRPr lang="en-US" sz="2000" u="sng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Συχνότητα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και Χρονική Απόκριση: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b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30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fps</a:t>
                </a:r>
                <a:r>
                  <a:rPr lang="el-G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&amp; 0.65Η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z – 4Hz Bandpass</a:t>
                </a:r>
              </a:p>
              <a:p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Χαρακτηριστικά εισόδου:</a:t>
                </a:r>
                <a:r>
                  <a:rPr lang="el-G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  <a:endParaRPr lang="en-US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Γραμμικότητα: </a:t>
                </a:r>
                <a:r>
                  <a:rPr lang="el-G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Ναι</a:t>
                </a:r>
              </a:p>
              <a:p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Αξιοπιστία: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Confidence Score</a:t>
                </a:r>
                <a:endParaRPr lang="el-G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140A9E3-63AA-0646-5309-FA4DA88B28E9}"/>
                </a:ext>
              </a:extLst>
            </p:cNvPr>
            <p:cNvSpPr txBox="1"/>
            <p:nvPr/>
          </p:nvSpPr>
          <p:spPr>
            <a:xfrm>
              <a:off x="1192929" y="1459158"/>
              <a:ext cx="3043988" cy="3934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l-GR" sz="2200" b="1" dirty="0">
                  <a:latin typeface="Arial" panose="020B0604020202020204" pitchFamily="34" charset="0"/>
                  <a:cs typeface="Arial" panose="020B0604020202020204" pitchFamily="34" charset="0"/>
                </a:rPr>
                <a:t>Παράγοντες Σήματος</a:t>
              </a:r>
              <a:endParaRPr lang="en-US" sz="2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78180B-1F27-1330-4FDF-0B510DEE410F}"/>
              </a:ext>
            </a:extLst>
          </p:cNvPr>
          <p:cNvGrpSpPr/>
          <p:nvPr/>
        </p:nvGrpSpPr>
        <p:grpSpPr>
          <a:xfrm>
            <a:off x="6272465" y="1362029"/>
            <a:ext cx="5262012" cy="4814182"/>
            <a:chOff x="657525" y="1362029"/>
            <a:chExt cx="4114799" cy="439588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C8A3044-AC29-3F92-DDDD-A398C9C01183}"/>
                </a:ext>
              </a:extLst>
            </p:cNvPr>
            <p:cNvGrpSpPr/>
            <p:nvPr/>
          </p:nvGrpSpPr>
          <p:grpSpPr>
            <a:xfrm>
              <a:off x="657525" y="1362029"/>
              <a:ext cx="4114799" cy="4395884"/>
              <a:chOff x="613410" y="1884812"/>
              <a:chExt cx="3425190" cy="4395884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0430769C-7DAD-9398-7EAA-A581426B506B}"/>
                  </a:ext>
                </a:extLst>
              </p:cNvPr>
              <p:cNvSpPr/>
              <p:nvPr/>
            </p:nvSpPr>
            <p:spPr>
              <a:xfrm>
                <a:off x="613410" y="1884812"/>
                <a:ext cx="3425190" cy="4395884"/>
              </a:xfrm>
              <a:prstGeom prst="roundRect">
                <a:avLst/>
              </a:prstGeom>
              <a:solidFill>
                <a:srgbClr val="E0E0E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Θέση περιεχομένου 16">
                <a:extLst>
                  <a:ext uri="{FF2B5EF4-FFF2-40B4-BE49-F238E27FC236}">
                    <a16:creationId xmlns:a16="http://schemas.microsoft.com/office/drawing/2014/main" id="{4BE7C476-BE27-0857-9A03-882D333EFC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3410" y="2489840"/>
                <a:ext cx="3425190" cy="379085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SNR</a:t>
                </a:r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l-G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Ανθεκτικότητα σε Θορυβώδες Περιβάλλον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Σταθερότητα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T, P, H</a:t>
                </a:r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l-G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Θόλωμα Φακού Κάμερας → Λογισμικό ανίχνευσης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Απαιτήσεις Υλικού: -</a:t>
                </a:r>
                <a:endParaRPr lang="en-US" sz="2200" b="1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  <a:p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Απαιτήσεις Ισχύος: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l-G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Ελάχιστη κατανάλωση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RAM (</a:t>
                </a:r>
                <a:r>
                  <a:rPr lang="el-G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μερικά ΜΒ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b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l-G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D567EDE-C11B-7605-4C94-499F34652C13}"/>
                </a:ext>
              </a:extLst>
            </p:cNvPr>
            <p:cNvSpPr txBox="1"/>
            <p:nvPr/>
          </p:nvSpPr>
          <p:spPr>
            <a:xfrm>
              <a:off x="1065304" y="1493922"/>
              <a:ext cx="3299240" cy="3934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l-GR" sz="2200" b="1" dirty="0">
                  <a:latin typeface="Arial" panose="020B0604020202020204" pitchFamily="34" charset="0"/>
                  <a:cs typeface="Arial" panose="020B0604020202020204" pitchFamily="34" charset="0"/>
                </a:rPr>
                <a:t>Περιβαλλοντικοί Παράγοντες</a:t>
              </a:r>
              <a:endParaRPr lang="en-US" sz="2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A0C6F98-4C2D-C2E8-3DBB-025FC56679DC}"/>
              </a:ext>
            </a:extLst>
          </p:cNvPr>
          <p:cNvCxnSpPr/>
          <p:nvPr/>
        </p:nvCxnSpPr>
        <p:spPr>
          <a:xfrm>
            <a:off x="2895600" y="3937000"/>
            <a:ext cx="6985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C0B859F-6EAE-FD23-DC66-EA2853214CFF}"/>
              </a:ext>
            </a:extLst>
          </p:cNvPr>
          <p:cNvCxnSpPr/>
          <p:nvPr/>
        </p:nvCxnSpPr>
        <p:spPr>
          <a:xfrm>
            <a:off x="2895600" y="2024629"/>
            <a:ext cx="6985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7660400-0695-6CA1-8DF1-27A55EDCF5B8}"/>
              </a:ext>
            </a:extLst>
          </p:cNvPr>
          <p:cNvCxnSpPr/>
          <p:nvPr/>
        </p:nvCxnSpPr>
        <p:spPr>
          <a:xfrm>
            <a:off x="3594100" y="2024629"/>
            <a:ext cx="0" cy="19123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C5B97B0-6AC9-91EE-AF3E-D69E048DC11F}"/>
              </a:ext>
            </a:extLst>
          </p:cNvPr>
          <p:cNvSpPr txBox="1"/>
          <p:nvPr/>
        </p:nvSpPr>
        <p:spPr>
          <a:xfrm>
            <a:off x="3638215" y="2780759"/>
            <a:ext cx="22813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 80601-2-61</a:t>
            </a:r>
            <a:r>
              <a:rPr lang="en-US" sz="20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[13]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312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9013E-B470-8BDD-B2B0-56BD03C81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Θέση υποσέλιδου 6">
            <a:extLst>
              <a:ext uri="{FF2B5EF4-FFF2-40B4-BE49-F238E27FC236}">
                <a16:creationId xmlns:a16="http://schemas.microsoft.com/office/drawing/2014/main" id="{15CAD6DB-D4BC-67B5-3471-FA94DE2D0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 dirty="0" err="1">
                <a:latin typeface="Arial" panose="020B0604020202020204" pitchFamily="34" charset="0"/>
                <a:cs typeface="Arial" panose="020B0604020202020204" pitchFamily="34" charset="0"/>
              </a:rPr>
              <a:t>Βιοϊατρική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 Τεχνολογία</a:t>
            </a:r>
          </a:p>
        </p:txBody>
      </p: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DDEBFE01-EE17-9BFC-5E4E-64DD4611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l-G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Ευθεία γραμμή σύνδεσης 16">
            <a:extLst>
              <a:ext uri="{FF2B5EF4-FFF2-40B4-BE49-F238E27FC236}">
                <a16:creationId xmlns:a16="http://schemas.microsoft.com/office/drawing/2014/main" id="{BAD54171-A0A0-2D3F-A949-5F18F59B6182}"/>
              </a:ext>
            </a:extLst>
          </p:cNvPr>
          <p:cNvCxnSpPr/>
          <p:nvPr/>
        </p:nvCxnSpPr>
        <p:spPr>
          <a:xfrm>
            <a:off x="586740" y="1082040"/>
            <a:ext cx="1101852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Τίτλος 1">
            <a:extLst>
              <a:ext uri="{FF2B5EF4-FFF2-40B4-BE49-F238E27FC236}">
                <a16:creationId xmlns:a16="http://schemas.microsoft.com/office/drawing/2014/main" id="{1D4471F2-C56B-8267-BAE4-F6AF93B76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410" y="60325"/>
            <a:ext cx="10965180" cy="1325563"/>
          </a:xfrm>
        </p:spPr>
        <p:txBody>
          <a:bodyPr>
            <a:normAutofit/>
          </a:bodyPr>
          <a:lstStyle/>
          <a:p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Σχεδιασμός Προϊόντος: Κριτήρια Σχεδιασμού</a:t>
            </a:r>
          </a:p>
        </p:txBody>
      </p:sp>
      <p:sp>
        <p:nvSpPr>
          <p:cNvPr id="21" name="Θέση ημερομηνίας 20">
            <a:extLst>
              <a:ext uri="{FF2B5EF4-FFF2-40B4-BE49-F238E27FC236}">
                <a16:creationId xmlns:a16="http://schemas.microsoft.com/office/drawing/2014/main" id="{669931B0-158B-0E49-BB0F-D9A5DA027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A2A78B2-ED1B-FA53-1E55-3D43398038EA}"/>
              </a:ext>
            </a:extLst>
          </p:cNvPr>
          <p:cNvGrpSpPr/>
          <p:nvPr/>
        </p:nvGrpSpPr>
        <p:grpSpPr>
          <a:xfrm>
            <a:off x="657525" y="1362029"/>
            <a:ext cx="5262012" cy="4814182"/>
            <a:chOff x="657525" y="1362029"/>
            <a:chExt cx="4114799" cy="439588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87DDDFC-9B3E-2549-A871-24D1AD25DB56}"/>
                </a:ext>
              </a:extLst>
            </p:cNvPr>
            <p:cNvGrpSpPr/>
            <p:nvPr/>
          </p:nvGrpSpPr>
          <p:grpSpPr>
            <a:xfrm>
              <a:off x="657525" y="1362029"/>
              <a:ext cx="4114799" cy="4395884"/>
              <a:chOff x="613410" y="1884812"/>
              <a:chExt cx="3425190" cy="4395884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634383CA-B29F-C23E-33D3-A7513055AF7D}"/>
                  </a:ext>
                </a:extLst>
              </p:cNvPr>
              <p:cNvSpPr/>
              <p:nvPr/>
            </p:nvSpPr>
            <p:spPr>
              <a:xfrm>
                <a:off x="613410" y="1884812"/>
                <a:ext cx="3425190" cy="3023833"/>
              </a:xfrm>
              <a:prstGeom prst="roundRect">
                <a:avLst/>
              </a:prstGeom>
              <a:solidFill>
                <a:srgbClr val="E0E0E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Θέση περιεχομένου 16">
                <a:extLst>
                  <a:ext uri="{FF2B5EF4-FFF2-40B4-BE49-F238E27FC236}">
                    <a16:creationId xmlns:a16="http://schemas.microsoft.com/office/drawing/2014/main" id="{93C9C7DA-E3A9-BD36-F2DE-731A8F4B6C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3410" y="2489840"/>
                <a:ext cx="3425190" cy="379085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l-GR" sz="20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Παρεμβατικότητα</a:t>
                </a:r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l-G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100% ανέπαφη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Απαιτήσεις </a:t>
                </a:r>
                <a:r>
                  <a:rPr lang="el-GR" sz="20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διεπαφής</a:t>
                </a:r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και τοξικότητα: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l-G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Εξ’ αποστάσεως → κανένας κίνδυνος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Ακτινοβολία: 1</a:t>
                </a:r>
                <a:r>
                  <a:rPr lang="el-G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NIR </a:t>
                </a:r>
                <a:r>
                  <a:rPr lang="el-G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κάμερες (ασφαλής)</a:t>
                </a:r>
                <a:endParaRPr lang="en-US" sz="2200" b="1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  <a:p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Απαγωγή Θερμότητας: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l-G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Ελαφριοί αλγόριθμοι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Δυσφορία Οδηγού:</a:t>
                </a:r>
                <a:r>
                  <a:rPr lang="el-G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-</a:t>
                </a:r>
                <a:endParaRPr lang="en-US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C10D126-A253-1A33-7090-6A1987F7E3E8}"/>
                </a:ext>
              </a:extLst>
            </p:cNvPr>
            <p:cNvSpPr txBox="1"/>
            <p:nvPr/>
          </p:nvSpPr>
          <p:spPr>
            <a:xfrm>
              <a:off x="1192929" y="1459158"/>
              <a:ext cx="3043988" cy="3934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l-GR" sz="2200" b="1" dirty="0">
                  <a:latin typeface="Arial" panose="020B0604020202020204" pitchFamily="34" charset="0"/>
                  <a:cs typeface="Arial" panose="020B0604020202020204" pitchFamily="34" charset="0"/>
                </a:rPr>
                <a:t>Ιατρικοί Παράγοντες</a:t>
              </a:r>
              <a:endParaRPr lang="en-US" sz="2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96F7EC-8D09-F3B5-1D5C-E6AC2DDD704B}"/>
              </a:ext>
            </a:extLst>
          </p:cNvPr>
          <p:cNvGrpSpPr/>
          <p:nvPr/>
        </p:nvGrpSpPr>
        <p:grpSpPr>
          <a:xfrm>
            <a:off x="6272465" y="1362029"/>
            <a:ext cx="5262012" cy="4814183"/>
            <a:chOff x="657525" y="1362029"/>
            <a:chExt cx="4114799" cy="439588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0C49329-AB6A-4CAB-72FD-15059A6F67AF}"/>
                </a:ext>
              </a:extLst>
            </p:cNvPr>
            <p:cNvGrpSpPr/>
            <p:nvPr/>
          </p:nvGrpSpPr>
          <p:grpSpPr>
            <a:xfrm>
              <a:off x="657525" y="1362029"/>
              <a:ext cx="4114799" cy="4395884"/>
              <a:chOff x="613410" y="1884812"/>
              <a:chExt cx="3425190" cy="4395884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39358C81-7EAC-0CF4-0FCE-105C44657606}"/>
                  </a:ext>
                </a:extLst>
              </p:cNvPr>
              <p:cNvSpPr/>
              <p:nvPr/>
            </p:nvSpPr>
            <p:spPr>
              <a:xfrm>
                <a:off x="613410" y="1884812"/>
                <a:ext cx="3425190" cy="3023832"/>
              </a:xfrm>
              <a:prstGeom prst="roundRect">
                <a:avLst/>
              </a:prstGeom>
              <a:solidFill>
                <a:srgbClr val="E0E0E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Θέση περιεχομένου 16">
                <a:extLst>
                  <a:ext uri="{FF2B5EF4-FFF2-40B4-BE49-F238E27FC236}">
                    <a16:creationId xmlns:a16="http://schemas.microsoft.com/office/drawing/2014/main" id="{5ACDF865-E8E1-7B4F-2480-BADBF56346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3410" y="2489840"/>
                <a:ext cx="3425190" cy="379085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Κόστος και αναλώσιμα: -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Συμβατότητα: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l-G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Σχεδόν πλήρης. Εξαρτάται από τις κάμερες του οχήματος.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Διαθεσιμότητα: </a:t>
                </a:r>
                <a:r>
                  <a:rPr lang="el-G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100%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fault tolerant</a:t>
                </a:r>
                <a:endParaRPr lang="en-US" sz="2200" b="1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  <a:p>
                <a:r>
                  <a:rPr lang="el-G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Συντήρηση: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Over-The-Air updates</a:t>
                </a:r>
                <a:b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l-G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22EB796-5ECD-DD26-9628-1CE2D01B6C03}"/>
                </a:ext>
              </a:extLst>
            </p:cNvPr>
            <p:cNvSpPr txBox="1"/>
            <p:nvPr/>
          </p:nvSpPr>
          <p:spPr>
            <a:xfrm>
              <a:off x="1065304" y="1493922"/>
              <a:ext cx="3299240" cy="3934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l-GR" sz="2200" b="1" dirty="0">
                  <a:latin typeface="Arial" panose="020B0604020202020204" pitchFamily="34" charset="0"/>
                  <a:cs typeface="Arial" panose="020B0604020202020204" pitchFamily="34" charset="0"/>
                </a:rPr>
                <a:t>Οικονομικοί Παράγοντες</a:t>
              </a:r>
              <a:endParaRPr lang="en-US" sz="2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4573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2D378-D5BE-A190-7C67-3E837CE8E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Θέση υποσέλιδου 6">
            <a:extLst>
              <a:ext uri="{FF2B5EF4-FFF2-40B4-BE49-F238E27FC236}">
                <a16:creationId xmlns:a16="http://schemas.microsoft.com/office/drawing/2014/main" id="{DD090854-224B-4AEF-6EA7-25347AFDF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>
                <a:latin typeface="Arial" panose="020B0604020202020204" pitchFamily="34" charset="0"/>
                <a:cs typeface="Arial" panose="020B0604020202020204" pitchFamily="34" charset="0"/>
              </a:rPr>
              <a:t>Βιοϊατρική Τεχνολογία</a:t>
            </a:r>
          </a:p>
        </p:txBody>
      </p: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97A7E383-5724-4221-91F9-AD86FD89E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l-G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Ευθεία γραμμή σύνδεσης 16">
            <a:extLst>
              <a:ext uri="{FF2B5EF4-FFF2-40B4-BE49-F238E27FC236}">
                <a16:creationId xmlns:a16="http://schemas.microsoft.com/office/drawing/2014/main" id="{364D4FB0-3E66-6CDA-604F-6A1C6196F413}"/>
              </a:ext>
            </a:extLst>
          </p:cNvPr>
          <p:cNvCxnSpPr/>
          <p:nvPr/>
        </p:nvCxnSpPr>
        <p:spPr>
          <a:xfrm>
            <a:off x="586740" y="1082040"/>
            <a:ext cx="1101852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Τίτλος 1">
            <a:extLst>
              <a:ext uri="{FF2B5EF4-FFF2-40B4-BE49-F238E27FC236}">
                <a16:creationId xmlns:a16="http://schemas.microsoft.com/office/drawing/2014/main" id="{10DA9814-B9C8-3843-C99B-CB1F57367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410" y="60325"/>
            <a:ext cx="10965180" cy="1325563"/>
          </a:xfrm>
        </p:spPr>
        <p:txBody>
          <a:bodyPr>
            <a:normAutofit/>
          </a:bodyPr>
          <a:lstStyle/>
          <a:p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Σχεδιασμός Προϊόντος: Διαδικασία Σχεδιασμού</a:t>
            </a:r>
          </a:p>
        </p:txBody>
      </p:sp>
      <p:sp>
        <p:nvSpPr>
          <p:cNvPr id="21" name="Θέση ημερομηνίας 20">
            <a:extLst>
              <a:ext uri="{FF2B5EF4-FFF2-40B4-BE49-F238E27FC236}">
                <a16:creationId xmlns:a16="http://schemas.microsoft.com/office/drawing/2014/main" id="{BB805E13-D8F6-D793-CF8E-40827C690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80A0CCF-3B9A-CB0F-ED7B-D30C9C88D825}"/>
              </a:ext>
            </a:extLst>
          </p:cNvPr>
          <p:cNvCxnSpPr>
            <a:cxnSpLocks/>
          </p:cNvCxnSpPr>
          <p:nvPr/>
        </p:nvCxnSpPr>
        <p:spPr>
          <a:xfrm>
            <a:off x="6096005" y="1890243"/>
            <a:ext cx="0" cy="431831"/>
          </a:xfrm>
          <a:prstGeom prst="straightConnector1">
            <a:avLst/>
          </a:prstGeom>
          <a:ln w="762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767863C-232F-90E7-8AD4-D4B21E81D3ED}"/>
              </a:ext>
            </a:extLst>
          </p:cNvPr>
          <p:cNvGrpSpPr/>
          <p:nvPr/>
        </p:nvGrpSpPr>
        <p:grpSpPr>
          <a:xfrm>
            <a:off x="838204" y="1385888"/>
            <a:ext cx="10515598" cy="461665"/>
            <a:chOff x="838204" y="1385888"/>
            <a:chExt cx="10515598" cy="461665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8C7B1F5-077F-D67F-2976-0A657ABFB02E}"/>
                </a:ext>
              </a:extLst>
            </p:cNvPr>
            <p:cNvSpPr/>
            <p:nvPr/>
          </p:nvSpPr>
          <p:spPr>
            <a:xfrm>
              <a:off x="838204" y="1385888"/>
              <a:ext cx="10515598" cy="461665"/>
            </a:xfrm>
            <a:prstGeom prst="roundRect">
              <a:avLst/>
            </a:prstGeom>
            <a:solidFill>
              <a:srgbClr val="E0E0E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748BD81-D05E-549B-7711-1009B6DD0B2B}"/>
                </a:ext>
              </a:extLst>
            </p:cNvPr>
            <p:cNvSpPr txBox="1"/>
            <p:nvPr/>
          </p:nvSpPr>
          <p:spPr>
            <a:xfrm>
              <a:off x="838204" y="1415541"/>
              <a:ext cx="1051559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l-GR" sz="22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Καθορισμός αρχιτεκτονικής, συλλογή δεδομένων και εκπαίδευση.</a:t>
              </a:r>
              <a:endPara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2A314A3-FE72-3A7D-7D93-BDB829A3AA30}"/>
              </a:ext>
            </a:extLst>
          </p:cNvPr>
          <p:cNvGrpSpPr/>
          <p:nvPr/>
        </p:nvGrpSpPr>
        <p:grpSpPr>
          <a:xfrm>
            <a:off x="838203" y="2355451"/>
            <a:ext cx="10534649" cy="466984"/>
            <a:chOff x="838203" y="2355451"/>
            <a:chExt cx="10534649" cy="46698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2767593-2F81-E03D-5CC9-615633E7398A}"/>
                </a:ext>
              </a:extLst>
            </p:cNvPr>
            <p:cNvSpPr/>
            <p:nvPr/>
          </p:nvSpPr>
          <p:spPr>
            <a:xfrm>
              <a:off x="838203" y="2355451"/>
              <a:ext cx="10515597" cy="461665"/>
            </a:xfrm>
            <a:prstGeom prst="roundRect">
              <a:avLst/>
            </a:prstGeom>
            <a:solidFill>
              <a:srgbClr val="E0E0E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729AB38-AEA8-BACB-265B-53D92D94934C}"/>
                </a:ext>
              </a:extLst>
            </p:cNvPr>
            <p:cNvSpPr txBox="1"/>
            <p:nvPr/>
          </p:nvSpPr>
          <p:spPr>
            <a:xfrm>
              <a:off x="857254" y="2391548"/>
              <a:ext cx="1051559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22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Testing </a:t>
              </a:r>
              <a:r>
                <a:rPr lang="el-GR" sz="22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σε προσομοιωτές και στο δρόμο με </a:t>
              </a:r>
              <a:r>
                <a:rPr lang="en-US" sz="22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Holter ECG (Ground Truth)</a:t>
              </a:r>
              <a:r>
                <a:rPr lang="el-GR" sz="22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.</a:t>
              </a:r>
              <a:endPara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3C98FF0-864E-9652-9F9A-E59CCE3AEEED}"/>
              </a:ext>
            </a:extLst>
          </p:cNvPr>
          <p:cNvCxnSpPr>
            <a:cxnSpLocks/>
          </p:cNvCxnSpPr>
          <p:nvPr/>
        </p:nvCxnSpPr>
        <p:spPr>
          <a:xfrm>
            <a:off x="6096005" y="2863274"/>
            <a:ext cx="0" cy="431831"/>
          </a:xfrm>
          <a:prstGeom prst="straightConnector1">
            <a:avLst/>
          </a:prstGeom>
          <a:ln w="762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34F7334-9308-ED09-D40B-BA4427FBFED4}"/>
              </a:ext>
            </a:extLst>
          </p:cNvPr>
          <p:cNvGrpSpPr/>
          <p:nvPr/>
        </p:nvGrpSpPr>
        <p:grpSpPr>
          <a:xfrm>
            <a:off x="838203" y="3331458"/>
            <a:ext cx="10515597" cy="466984"/>
            <a:chOff x="838203" y="3331458"/>
            <a:chExt cx="10515597" cy="466984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0E52454-66CD-4D83-8C11-161499561333}"/>
                </a:ext>
              </a:extLst>
            </p:cNvPr>
            <p:cNvSpPr/>
            <p:nvPr/>
          </p:nvSpPr>
          <p:spPr>
            <a:xfrm>
              <a:off x="838204" y="3331458"/>
              <a:ext cx="10515596" cy="461665"/>
            </a:xfrm>
            <a:prstGeom prst="roundRect">
              <a:avLst/>
            </a:prstGeom>
            <a:solidFill>
              <a:srgbClr val="E0E0E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7C94655-CDB2-4515-67C0-322980AD7355}"/>
                </a:ext>
              </a:extLst>
            </p:cNvPr>
            <p:cNvSpPr txBox="1"/>
            <p:nvPr/>
          </p:nvSpPr>
          <p:spPr>
            <a:xfrm>
              <a:off x="838203" y="3367555"/>
              <a:ext cx="1051559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l-GR" sz="22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Βελτιστοποίηση κώδικα: </a:t>
              </a:r>
              <a:r>
                <a:rPr lang="en-US" sz="22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Quantization &amp; Pruning</a:t>
              </a: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9661A9F-E012-5899-FE59-3A720CBF1B76}"/>
              </a:ext>
            </a:extLst>
          </p:cNvPr>
          <p:cNvCxnSpPr>
            <a:cxnSpLocks/>
          </p:cNvCxnSpPr>
          <p:nvPr/>
        </p:nvCxnSpPr>
        <p:spPr>
          <a:xfrm>
            <a:off x="6096005" y="3833573"/>
            <a:ext cx="0" cy="431831"/>
          </a:xfrm>
          <a:prstGeom prst="straightConnector1">
            <a:avLst/>
          </a:prstGeom>
          <a:ln w="762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82BA165-0B00-5079-E0FC-35DA7C3003F6}"/>
              </a:ext>
            </a:extLst>
          </p:cNvPr>
          <p:cNvGrpSpPr/>
          <p:nvPr/>
        </p:nvGrpSpPr>
        <p:grpSpPr>
          <a:xfrm>
            <a:off x="838200" y="4297922"/>
            <a:ext cx="10515597" cy="466984"/>
            <a:chOff x="838203" y="4343562"/>
            <a:chExt cx="10515597" cy="466984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248E0B0-2C22-F6D8-739B-3C6D1BF4EBA6}"/>
                </a:ext>
              </a:extLst>
            </p:cNvPr>
            <p:cNvSpPr/>
            <p:nvPr/>
          </p:nvSpPr>
          <p:spPr>
            <a:xfrm>
              <a:off x="838204" y="4343562"/>
              <a:ext cx="10515596" cy="466984"/>
            </a:xfrm>
            <a:prstGeom prst="roundRect">
              <a:avLst/>
            </a:prstGeom>
            <a:solidFill>
              <a:srgbClr val="E0E0E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9F0B297-2A56-AEB3-E79C-13936BFBA2B4}"/>
                </a:ext>
              </a:extLst>
            </p:cNvPr>
            <p:cNvSpPr txBox="1"/>
            <p:nvPr/>
          </p:nvSpPr>
          <p:spPr>
            <a:xfrm>
              <a:off x="838203" y="4379658"/>
              <a:ext cx="1051559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l-GR" sz="22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Κλινικές δοκιμές </a:t>
              </a:r>
              <a:r>
                <a:rPr lang="el-GR" sz="2200" dirty="0">
                  <a:latin typeface="Arial" panose="020B0604020202020204" pitchFamily="34" charset="0"/>
                  <a:cs typeface="Arial" panose="020B0604020202020204" pitchFamily="34" charset="0"/>
                </a:rPr>
                <a:t>→ Πιστοποίηση </a:t>
              </a:r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SaMD</a:t>
              </a:r>
              <a:endPara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C667B14-0B7A-B124-4560-DE476F1EF1D2}"/>
              </a:ext>
            </a:extLst>
          </p:cNvPr>
          <p:cNvCxnSpPr>
            <a:cxnSpLocks/>
          </p:cNvCxnSpPr>
          <p:nvPr/>
        </p:nvCxnSpPr>
        <p:spPr>
          <a:xfrm>
            <a:off x="6095998" y="4806180"/>
            <a:ext cx="0" cy="431831"/>
          </a:xfrm>
          <a:prstGeom prst="straightConnector1">
            <a:avLst/>
          </a:prstGeom>
          <a:ln w="762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007138A-A52F-2F4E-433A-FFE2465CFD18}"/>
              </a:ext>
            </a:extLst>
          </p:cNvPr>
          <p:cNvGrpSpPr/>
          <p:nvPr/>
        </p:nvGrpSpPr>
        <p:grpSpPr>
          <a:xfrm>
            <a:off x="857255" y="5278415"/>
            <a:ext cx="10515597" cy="466984"/>
            <a:chOff x="838203" y="5391761"/>
            <a:chExt cx="10515597" cy="466984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AB73F0D4-E938-E2C8-D3B8-9E0F975DB151}"/>
                </a:ext>
              </a:extLst>
            </p:cNvPr>
            <p:cNvSpPr/>
            <p:nvPr/>
          </p:nvSpPr>
          <p:spPr>
            <a:xfrm>
              <a:off x="838204" y="5391761"/>
              <a:ext cx="10515596" cy="466984"/>
            </a:xfrm>
            <a:prstGeom prst="roundRect">
              <a:avLst/>
            </a:prstGeom>
            <a:solidFill>
              <a:srgbClr val="E0E0E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484FB7A-9AC9-AD66-C37B-432611EDED7F}"/>
                </a:ext>
              </a:extLst>
            </p:cNvPr>
            <p:cNvSpPr txBox="1"/>
            <p:nvPr/>
          </p:nvSpPr>
          <p:spPr>
            <a:xfrm>
              <a:off x="838203" y="5427857"/>
              <a:ext cx="1051559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2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Licensing </a:t>
              </a:r>
              <a:r>
                <a:rPr lang="el-GR" sz="22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στην Αυτοκινητοβιομηχανία</a:t>
              </a:r>
              <a:endParaRPr lang="en-US" sz="2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9973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C6F94-95D8-DB60-14CF-DC72AD386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1C3470E-925D-F773-E385-78F6B7BF8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020"/>
            <a:ext cx="10515600" cy="487394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SWOV (2019). Fatigue. SWOV Fact sheet, September 2019. SWOV, The Hague.</a:t>
            </a:r>
            <a:endParaRPr lang="el-G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] Tervo, Timo &amp; Räty, Esa &amp;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Sulander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Pekka &amp; Holopainen, Juha &amp; Jaakkola, Timo &amp;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Parkkari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Kalle. (2013). Sudden Death at the Wheel Due to a Disease Attack. Traffic injury prevention. 14. 138-44. 10.1080/15389588.2012.695827.</a:t>
            </a:r>
            <a:endParaRPr lang="el-G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[3]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Lee,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Jihyoung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&amp; Matsumura, Kenta &amp; Yamakoshi, Takehiro &amp; Rolfe, Peter &amp; Tanaka, Naoto &amp; Kim,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Kyungho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&amp; Yamakoshi, Ken-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ichi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(2013). Validation of normalized pulse volume in the outer ear as a simple measure of sympathetic activity using warm and cold pressor tests: Towards applications in ambulatory monitoring. Physiological Measurement. 34. 359-75. 10.1088/0967-3334/34/3/359.</a:t>
            </a:r>
          </a:p>
          <a:p>
            <a:pPr marL="0" indent="0" algn="just">
              <a:buNone/>
            </a:pP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[4]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S.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Bobbia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R. Macwan, Y.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Benezeth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A. Mansouri, J. Dubois, "Unsupervised skin tissue segmentation for remote photoplethysmography", Pattern Recognition Letters, 2017.</a:t>
            </a:r>
          </a:p>
          <a:p>
            <a:pPr marL="0" indent="0" algn="just">
              <a:buNone/>
            </a:pP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Chen, Qiong &amp; Wang,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Yalin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&amp; Liu, Xiangyu &amp; Long, Xi &amp; Yin, Bin &amp; Chen, Chen &amp; Chen, Wei. (2021). Camera-based heart rate estimation for hospitalized newborns in the presence of motion artifacts.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BioMedical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Engineering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OnLine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20. 10.1186/s12938-021-00958-5.</a:t>
            </a:r>
            <a:endParaRPr lang="el-G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[6]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Hong Kong University of Science and Technology (HKUST), "Taking Your Pulse with Your Phone," 28 April 2022. [Online]. Available: https://hkust.edu.hk/news/taking-your-pulse-your-phone.</a:t>
            </a:r>
          </a:p>
          <a:p>
            <a:pPr marL="0" indent="0" algn="just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EC595E53-0F4F-DD31-8F85-7038FD369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>
                <a:latin typeface="Arial" panose="020B0604020202020204" pitchFamily="34" charset="0"/>
                <a:cs typeface="Arial" panose="020B0604020202020204" pitchFamily="34" charset="0"/>
              </a:rPr>
              <a:t>Βιοϊατρική Τεχνολογία</a:t>
            </a:r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3A0EF90F-B56C-0256-B9C3-7185E029E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l-G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Ευθεία γραμμή σύνδεσης 8">
            <a:extLst>
              <a:ext uri="{FF2B5EF4-FFF2-40B4-BE49-F238E27FC236}">
                <a16:creationId xmlns:a16="http://schemas.microsoft.com/office/drawing/2014/main" id="{6D8EBA8F-2DBA-5A02-2D56-4B9DE4856486}"/>
              </a:ext>
            </a:extLst>
          </p:cNvPr>
          <p:cNvCxnSpPr/>
          <p:nvPr/>
        </p:nvCxnSpPr>
        <p:spPr>
          <a:xfrm>
            <a:off x="586740" y="1082040"/>
            <a:ext cx="1101852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Τίτλος 1">
            <a:extLst>
              <a:ext uri="{FF2B5EF4-FFF2-40B4-BE49-F238E27FC236}">
                <a16:creationId xmlns:a16="http://schemas.microsoft.com/office/drawing/2014/main" id="{EF7FEC40-86EB-1840-921F-908FF1224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410" y="60325"/>
            <a:ext cx="10965180" cy="1325563"/>
          </a:xfrm>
        </p:spPr>
        <p:txBody>
          <a:bodyPr>
            <a:normAutofit/>
          </a:bodyPr>
          <a:lstStyle/>
          <a:p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Αναφορές</a:t>
            </a:r>
          </a:p>
        </p:txBody>
      </p:sp>
      <p:sp>
        <p:nvSpPr>
          <p:cNvPr id="13" name="Θέση ημερομηνίας 12">
            <a:extLst>
              <a:ext uri="{FF2B5EF4-FFF2-40B4-BE49-F238E27FC236}">
                <a16:creationId xmlns:a16="http://schemas.microsoft.com/office/drawing/2014/main" id="{1B7B38D6-F6FB-51CD-E90F-1861CA72B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528043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4C895-4E74-5C87-7317-ED0F3645D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3D722F6-0EA0-28B5-4AB3-A38E958C8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020"/>
            <a:ext cx="10515600" cy="487394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[7] FunnyTech21, "Intelligent Driver Monitoring System -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rPPG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Highway Test," 2</a:t>
            </a: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January 2026. FunnyTech21 Blog. [Online]. Available</a:t>
            </a: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https://www.funnytech21.com/blog-rppg-highway-test.html.</a:t>
            </a:r>
          </a:p>
          <a:p>
            <a:pPr marL="0" indent="0" algn="just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[8]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DermNet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"Skin phototype," New Zealand Dermatological Society. [Online]. Available</a:t>
            </a: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https://dermnetnz.org/topics/skin-phototype.</a:t>
            </a:r>
            <a:endParaRPr lang="el-G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PanopticAI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"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PanopticAI’s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Vital Signs App Became World’s First FDA-Cleared App for Contactless Pulse Rate Measurement," HKUST Engineering News, February 2025. [Online]</a:t>
            </a:r>
          </a:p>
          <a:p>
            <a:pPr marL="0" indent="0" algn="just">
              <a:buNone/>
            </a:pP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ISO 80601-2-61:2017, "Medical electrical equipment - Part 2-61: Particular requirements for basic safety and essential performance of pulse oximeter equipment," International Organization for Standardization, 2017.</a:t>
            </a:r>
          </a:p>
          <a:p>
            <a:pPr marL="0" indent="0" algn="just">
              <a:buNone/>
            </a:pP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Chen, Qiong &amp; Wang,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Yalin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&amp; Liu, Xiangyu &amp; Long, Xi &amp; Yin, Bin &amp; Chen, Chen &amp; Chen, Wei. (2021). Camera-based heart rate estimation for hospitalized newborns in the presence of motion artifacts.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BioMedical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Engineering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OnLine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20. 10.1186/s12938-021-00958-5.</a:t>
            </a:r>
            <a:endParaRPr lang="el-G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2]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Research and Markets, "Vital Parameter Monitoring Devices and Equipment Market Report", April 2025.</a:t>
            </a:r>
          </a:p>
          <a:p>
            <a:pPr marL="0" indent="0" algn="just">
              <a:buNone/>
            </a:pP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ISO 80601-2-61:2017, "Medical electrical equipment - Part 2-61: Particular requirements for basic safety and essential performance of pulse oximeter equipment," International Organization for Standardization, 2017.</a:t>
            </a:r>
          </a:p>
          <a:p>
            <a:pPr marL="0" indent="0" algn="just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C353D985-51F6-D65B-4E3B-FDE3C162C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>
                <a:latin typeface="Arial" panose="020B0604020202020204" pitchFamily="34" charset="0"/>
                <a:cs typeface="Arial" panose="020B0604020202020204" pitchFamily="34" charset="0"/>
              </a:rPr>
              <a:t>Βιοϊατρική Τεχνολογία</a:t>
            </a:r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2BC242AD-8E5B-79D4-E472-731E5E3CD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8CE3-C8EF-45A7-B343-2DCDAD44ED51}" type="slidenum">
              <a:rPr lang="el-GR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l-G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Ευθεία γραμμή σύνδεσης 8">
            <a:extLst>
              <a:ext uri="{FF2B5EF4-FFF2-40B4-BE49-F238E27FC236}">
                <a16:creationId xmlns:a16="http://schemas.microsoft.com/office/drawing/2014/main" id="{81CBC1F5-7874-67BB-E95E-87AD93756DF2}"/>
              </a:ext>
            </a:extLst>
          </p:cNvPr>
          <p:cNvCxnSpPr/>
          <p:nvPr/>
        </p:nvCxnSpPr>
        <p:spPr>
          <a:xfrm>
            <a:off x="586740" y="1082040"/>
            <a:ext cx="1101852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Τίτλος 1">
            <a:extLst>
              <a:ext uri="{FF2B5EF4-FFF2-40B4-BE49-F238E27FC236}">
                <a16:creationId xmlns:a16="http://schemas.microsoft.com/office/drawing/2014/main" id="{D954E61A-A3D2-0399-AC17-D7B18D3F3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410" y="60325"/>
            <a:ext cx="10965180" cy="1325563"/>
          </a:xfrm>
        </p:spPr>
        <p:txBody>
          <a:bodyPr>
            <a:normAutofit/>
          </a:bodyPr>
          <a:lstStyle/>
          <a:p>
            <a:r>
              <a:rPr lang="el-GR" sz="3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Αναφορές</a:t>
            </a:r>
          </a:p>
        </p:txBody>
      </p:sp>
      <p:sp>
        <p:nvSpPr>
          <p:cNvPr id="13" name="Θέση ημερομηνίας 12">
            <a:extLst>
              <a:ext uri="{FF2B5EF4-FFF2-40B4-BE49-F238E27FC236}">
                <a16:creationId xmlns:a16="http://schemas.microsoft.com/office/drawing/2014/main" id="{985FB67B-7335-5C3C-5514-9871EE218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Ηλίας Ξανθόπουλος 58545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70337134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2006</TotalTime>
  <Words>1895</Words>
  <Application>Microsoft Office PowerPoint</Application>
  <PresentationFormat>Widescreen</PresentationFormat>
  <Paragraphs>273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Θέμα του Office</vt:lpstr>
      <vt:lpstr>Σχεδιασμός Ενσωματωμένου Λογισμικού Απομακρυσμένης Φωτοπληθυσμογραφίας (rPPG) για την Ανέπαφη Παρακολούθηση Ζωτικών Παραμέτρων και Κοπώσεως Οδηγού</vt:lpstr>
      <vt:lpstr>Σκοπός - Κίνητρο</vt:lpstr>
      <vt:lpstr>Αξιολόγηση Τεχνολογίας: PPG &amp; rPPG</vt:lpstr>
      <vt:lpstr>Αξιολόγηση Τεχνολογίας: PPG &amp; rPPG</vt:lpstr>
      <vt:lpstr>Αξιολόγηση Τεχνολογίας: PPG &amp; rPPG</vt:lpstr>
      <vt:lpstr>Αξιολόγηση Τεχνολογίας: Υπολογισμός HR &amp; SpO2 </vt:lpstr>
      <vt:lpstr>Αξιολόγηση Τεχνολογίας: Χρήση rPPG</vt:lpstr>
      <vt:lpstr>Αξιολόγηση Τεχνολογίας: Χρήση rPPG</vt:lpstr>
      <vt:lpstr>Αξιολόγηση Τεχνολογίας: Χρήση rPPG</vt:lpstr>
      <vt:lpstr>Αξιολόγηση Τεχνολογίας: Χρήση rPPG</vt:lpstr>
      <vt:lpstr>Αξιολόγηση Τεχνολογίας: Εξέλιξη rPPG</vt:lpstr>
      <vt:lpstr>Αξιολόγηση Τεχνολογίας: Ανάλυση SWOT</vt:lpstr>
      <vt:lpstr>Αξιολόγηση Τεχνολογίας: Ανάλυση SWOT</vt:lpstr>
      <vt:lpstr>Ανάλυση Αγοράς: Αγορά &amp; Μοντέλο</vt:lpstr>
      <vt:lpstr>Ανάλυση Αγοράς: Επαγγελματικές Προοπτικές</vt:lpstr>
      <vt:lpstr>Σχεδιασμός Προϊόντος: Τελικό Προϊόν</vt:lpstr>
      <vt:lpstr>Σχεδιασμός Προϊόντος: Κριτήρια Σχεδιασμού</vt:lpstr>
      <vt:lpstr>Σχεδιασμός Προϊόντος: Κριτήρια Σχεδιασμού</vt:lpstr>
      <vt:lpstr>Σχεδιασμός Προϊόντος: Διαδικασία Σχεδιασμού</vt:lpstr>
      <vt:lpstr>Αναφορές</vt:lpstr>
      <vt:lpstr>Αναφορές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Helias X.</dc:creator>
  <cp:lastModifiedBy>Ilias Xanthopoulos</cp:lastModifiedBy>
  <cp:revision>75</cp:revision>
  <dcterms:created xsi:type="dcterms:W3CDTF">2026-01-30T10:21:32Z</dcterms:created>
  <dcterms:modified xsi:type="dcterms:W3CDTF">2026-02-26T05:19:27Z</dcterms:modified>
</cp:coreProperties>
</file>